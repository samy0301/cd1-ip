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9E9D3-A26A-48D8-84E2-B22799CBACE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AD031-EDCB-4436-92A0-E7FD63E74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7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4F71-B581-4E7A-B080-7B5CA4952E4A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8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r>
              <a:rPr lang="es-ES" dirty="0" smtClean="0"/>
              <a:t>Programación CD, MKM, MATCOM UH 2025-2026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8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F31F-267E-4AAF-9BFC-E79FB92B1E22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5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B7755-613C-4D24-BB97-93C46EDF22D3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6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A636-7344-40D7-9DA4-C0BD48887C56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4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ABEA-80E5-4046-A10E-A13536A33356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81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33CC-3974-4317-A532-CA49ACF6B8EF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93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F7BE-D795-47A2-A6C8-0A841FFC8358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0FA1-A8EB-4883-9EFF-F2FD01998631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6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6CE8-B2CD-465A-9821-04ED8DDF2033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73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3C08-0F0B-4575-ADA8-1733319D3F02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93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5F1F8-1884-4F03-94DE-FFABE54F13B1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smtClean="0"/>
              <a:t>Programación CD, MKM, MATCOM UH 2025-2026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4E079-F453-44CE-A95A-F40592D8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5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 dirty="0" smtClean="0">
                <a:latin typeface="Arial Narrow" panose="020B0606020202030204" pitchFamily="34" charset="0"/>
              </a:rPr>
              <a:t>Programación CD, MKM, MATCOM UH 2025-2026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1</a:t>
            </a:fld>
            <a:endParaRPr lang="en-US"/>
          </a:p>
        </p:txBody>
      </p:sp>
      <p:sp>
        <p:nvSpPr>
          <p:cNvPr id="7" name="Title 6"/>
          <p:cNvSpPr txBox="1">
            <a:spLocks/>
          </p:cNvSpPr>
          <p:nvPr/>
        </p:nvSpPr>
        <p:spPr>
          <a:xfrm>
            <a:off x="2057400" y="1715921"/>
            <a:ext cx="740476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Un </a:t>
            </a:r>
            <a:r>
              <a:rPr lang="en-US" dirty="0" err="1" smtClean="0">
                <a:solidFill>
                  <a:srgbClr val="FF0000"/>
                </a:solidFill>
                <a:latin typeface="Arial Narrow" panose="020B0606020202030204" pitchFamily="34" charset="0"/>
              </a:rPr>
              <a:t>problema</a:t>
            </a:r>
            <a:r>
              <a:rPr lang="en-US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 4 </a:t>
            </a:r>
            <a:r>
              <a:rPr lang="en-US" dirty="0" err="1" smtClean="0">
                <a:solidFill>
                  <a:srgbClr val="FF0000"/>
                </a:solidFill>
                <a:latin typeface="Arial Narrow" panose="020B0606020202030204" pitchFamily="34" charset="0"/>
              </a:rPr>
              <a:t>soluciones</a:t>
            </a:r>
            <a:r>
              <a:rPr lang="en-US" dirty="0" smtClean="0">
                <a:latin typeface="Arial Narrow" panose="020B0606020202030204" pitchFamily="34" charset="0"/>
              </a:rPr>
              <a:t/>
            </a:r>
            <a:br>
              <a:rPr lang="en-US" dirty="0" smtClean="0">
                <a:latin typeface="Arial Narrow" panose="020B0606020202030204" pitchFamily="34" charset="0"/>
              </a:rPr>
            </a:br>
            <a:r>
              <a:rPr lang="en-US" sz="4900" dirty="0" err="1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Subsecuencia</a:t>
            </a:r>
            <a:r>
              <a:rPr lang="en-US" sz="4900" dirty="0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 de Suma </a:t>
            </a:r>
            <a:r>
              <a:rPr lang="en-US" sz="4900" dirty="0" err="1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Máxima</a:t>
            </a:r>
            <a:endParaRPr lang="es-ES" sz="4900" dirty="0">
              <a:solidFill>
                <a:schemeClr val="accent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54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84036" cy="365125"/>
          </a:xfrm>
        </p:spPr>
        <p:txBody>
          <a:bodyPr/>
          <a:lstStyle/>
          <a:p>
            <a:pPr algn="l"/>
            <a:r>
              <a:rPr lang="es-ES" dirty="0" smtClean="0">
                <a:latin typeface="Arial Narrow" panose="020B0606020202030204" pitchFamily="34" charset="0"/>
              </a:rPr>
              <a:t>Programación CD, MKM, MATCOM UH 2025-2026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2</a:t>
            </a:fld>
            <a:endParaRPr lang="en-US"/>
          </a:p>
        </p:txBody>
      </p:sp>
      <p:sp>
        <p:nvSpPr>
          <p:cNvPr id="7" name="10 CuadroTexto"/>
          <p:cNvSpPr txBox="1"/>
          <p:nvPr/>
        </p:nvSpPr>
        <p:spPr>
          <a:xfrm>
            <a:off x="180002" y="252979"/>
            <a:ext cx="11735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 Narrow" panose="020B0606020202030204" pitchFamily="34" charset="0"/>
              </a:rPr>
              <a:t>Dada una secuencia de números </a:t>
            </a:r>
            <a:r>
              <a:rPr lang="es-ES" sz="2000" dirty="0" smtClean="0">
                <a:latin typeface="Arial Narrow" panose="020B0606020202030204" pitchFamily="34" charset="0"/>
              </a:rPr>
              <a:t>(pueden haber negativos) determinar </a:t>
            </a:r>
            <a:r>
              <a:rPr lang="es-ES" sz="2000" dirty="0">
                <a:latin typeface="Arial Narrow" panose="020B0606020202030204" pitchFamily="34" charset="0"/>
              </a:rPr>
              <a:t>cuánto suma </a:t>
            </a:r>
            <a:r>
              <a:rPr lang="es-ES" sz="2000" dirty="0" smtClean="0">
                <a:latin typeface="Arial Narrow" panose="020B0606020202030204" pitchFamily="34" charset="0"/>
              </a:rPr>
              <a:t>una </a:t>
            </a:r>
            <a:r>
              <a:rPr lang="es-ES" sz="2000" b="1" dirty="0" err="1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Subsecuencia</a:t>
            </a:r>
            <a:r>
              <a:rPr lang="es-ES" sz="2000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 de suma máxima</a:t>
            </a:r>
          </a:p>
        </p:txBody>
      </p:sp>
      <p:sp>
        <p:nvSpPr>
          <p:cNvPr id="8" name="77 CuadroTexto"/>
          <p:cNvSpPr txBox="1"/>
          <p:nvPr/>
        </p:nvSpPr>
        <p:spPr>
          <a:xfrm>
            <a:off x="2476500" y="658867"/>
            <a:ext cx="571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i="0" dirty="0" smtClean="0">
                <a:latin typeface="Consolas" pitchFamily="49" charset="0"/>
              </a:rPr>
              <a:t>2, -1, -3, </a:t>
            </a:r>
            <a:r>
              <a:rPr lang="es-ES" sz="2000" b="1" i="0" dirty="0" smtClean="0">
                <a:latin typeface="Consolas" pitchFamily="49" charset="0"/>
              </a:rPr>
              <a:t>5, -2, -1, 6, 4, -8</a:t>
            </a:r>
            <a:endParaRPr lang="es-ES" sz="2000" i="0" dirty="0" smtClean="0">
              <a:solidFill>
                <a:srgbClr val="FFFFFF"/>
              </a:solidFill>
              <a:latin typeface="Consolas" pitchFamily="49" charset="0"/>
            </a:endParaRPr>
          </a:p>
        </p:txBody>
      </p:sp>
      <p:cxnSp>
        <p:nvCxnSpPr>
          <p:cNvPr id="9" name="11 Conector recto"/>
          <p:cNvCxnSpPr/>
          <p:nvPr/>
        </p:nvCxnSpPr>
        <p:spPr bwMode="auto">
          <a:xfrm>
            <a:off x="4076700" y="1077552"/>
            <a:ext cx="212648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13 CuadroTexto"/>
          <p:cNvSpPr txBox="1"/>
          <p:nvPr/>
        </p:nvSpPr>
        <p:spPr>
          <a:xfrm>
            <a:off x="4606337" y="1004467"/>
            <a:ext cx="128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i="0" dirty="0" smtClean="0">
                <a:solidFill>
                  <a:srgbClr val="C00000"/>
                </a:solidFill>
                <a:latin typeface="Consolas" pitchFamily="49" charset="0"/>
              </a:rPr>
              <a:t>Suma 12</a:t>
            </a:r>
          </a:p>
        </p:txBody>
      </p:sp>
      <p:sp>
        <p:nvSpPr>
          <p:cNvPr id="11" name="14 CuadroTexto"/>
          <p:cNvSpPr txBox="1"/>
          <p:nvPr/>
        </p:nvSpPr>
        <p:spPr>
          <a:xfrm>
            <a:off x="180002" y="1336367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 Narrow" panose="020B0606020202030204" pitchFamily="34" charset="0"/>
              </a:rPr>
              <a:t>Una solución </a:t>
            </a:r>
            <a:r>
              <a:rPr lang="es-ES" sz="2000" b="1" dirty="0">
                <a:solidFill>
                  <a:srgbClr val="C00000"/>
                </a:solidFill>
                <a:latin typeface="Arial Narrow" panose="020B0606020202030204" pitchFamily="34" charset="0"/>
              </a:rPr>
              <a:t>Fuerza bruta</a:t>
            </a:r>
            <a:r>
              <a:rPr lang="es-ES" i="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: </a:t>
            </a:r>
            <a:r>
              <a:rPr lang="es-ES" i="0" dirty="0" smtClean="0">
                <a:latin typeface="Arial Narrow" panose="020B0606020202030204" pitchFamily="34" charset="0"/>
              </a:rPr>
              <a:t>Probar </a:t>
            </a:r>
            <a:r>
              <a:rPr lang="es-ES" sz="2000" b="1" dirty="0">
                <a:solidFill>
                  <a:srgbClr val="C00000"/>
                </a:solidFill>
                <a:latin typeface="Arial Narrow" panose="020B0606020202030204" pitchFamily="34" charset="0"/>
              </a:rPr>
              <a:t>TODAS</a:t>
            </a:r>
            <a:r>
              <a:rPr lang="es-ES" i="0" dirty="0" smtClean="0">
                <a:latin typeface="Arial Narrow" panose="020B0606020202030204" pitchFamily="34" charset="0"/>
              </a:rPr>
              <a:t> las secuencias y quedarnos con la que más sume</a:t>
            </a:r>
          </a:p>
        </p:txBody>
      </p:sp>
      <p:sp>
        <p:nvSpPr>
          <p:cNvPr id="12" name="15 CuadroTexto"/>
          <p:cNvSpPr txBox="1"/>
          <p:nvPr/>
        </p:nvSpPr>
        <p:spPr>
          <a:xfrm>
            <a:off x="258927" y="4469887"/>
            <a:ext cx="571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0" dirty="0" smtClean="0">
                <a:latin typeface="Consolas" pitchFamily="49" charset="0"/>
              </a:rPr>
              <a:t>2, -1, -3, 5, -2, -1, 6, 4, -8</a:t>
            </a:r>
            <a:endParaRPr lang="es-ES" sz="2000" b="1" i="0" dirty="0" smtClean="0">
              <a:solidFill>
                <a:srgbClr val="FFFFFF"/>
              </a:solidFill>
              <a:latin typeface="Consolas" pitchFamily="49" charset="0"/>
            </a:endParaRPr>
          </a:p>
        </p:txBody>
      </p:sp>
      <p:cxnSp>
        <p:nvCxnSpPr>
          <p:cNvPr id="13" name="17 Conector recto"/>
          <p:cNvCxnSpPr/>
          <p:nvPr/>
        </p:nvCxnSpPr>
        <p:spPr bwMode="auto">
          <a:xfrm>
            <a:off x="446702" y="2482993"/>
            <a:ext cx="3048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19 Conector recto"/>
          <p:cNvCxnSpPr/>
          <p:nvPr/>
        </p:nvCxnSpPr>
        <p:spPr bwMode="auto">
          <a:xfrm>
            <a:off x="446702" y="2635393"/>
            <a:ext cx="7620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21 Conector recto"/>
          <p:cNvCxnSpPr/>
          <p:nvPr/>
        </p:nvCxnSpPr>
        <p:spPr bwMode="auto">
          <a:xfrm>
            <a:off x="446702" y="2787793"/>
            <a:ext cx="13716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23 CuadroTexto"/>
          <p:cNvSpPr txBox="1"/>
          <p:nvPr/>
        </p:nvSpPr>
        <p:spPr>
          <a:xfrm>
            <a:off x="751502" y="2254393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2</a:t>
            </a:r>
          </a:p>
        </p:txBody>
      </p:sp>
      <p:sp>
        <p:nvSpPr>
          <p:cNvPr id="17" name="24 CuadroTexto"/>
          <p:cNvSpPr txBox="1"/>
          <p:nvPr/>
        </p:nvSpPr>
        <p:spPr>
          <a:xfrm>
            <a:off x="1284902" y="2330593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1</a:t>
            </a:r>
          </a:p>
        </p:txBody>
      </p:sp>
      <p:sp>
        <p:nvSpPr>
          <p:cNvPr id="18" name="27 CuadroTexto"/>
          <p:cNvSpPr txBox="1"/>
          <p:nvPr/>
        </p:nvSpPr>
        <p:spPr>
          <a:xfrm>
            <a:off x="1818302" y="255919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-2</a:t>
            </a:r>
          </a:p>
        </p:txBody>
      </p:sp>
      <p:cxnSp>
        <p:nvCxnSpPr>
          <p:cNvPr id="19" name="28 Conector recto"/>
          <p:cNvCxnSpPr/>
          <p:nvPr/>
        </p:nvCxnSpPr>
        <p:spPr bwMode="auto">
          <a:xfrm>
            <a:off x="446702" y="3016393"/>
            <a:ext cx="17526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30 CuadroTexto"/>
          <p:cNvSpPr txBox="1"/>
          <p:nvPr/>
        </p:nvSpPr>
        <p:spPr>
          <a:xfrm>
            <a:off x="2275502" y="278779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3</a:t>
            </a:r>
          </a:p>
        </p:txBody>
      </p:sp>
      <p:cxnSp>
        <p:nvCxnSpPr>
          <p:cNvPr id="21" name="31 Conector recto"/>
          <p:cNvCxnSpPr/>
          <p:nvPr/>
        </p:nvCxnSpPr>
        <p:spPr bwMode="auto">
          <a:xfrm>
            <a:off x="446702" y="3244993"/>
            <a:ext cx="22860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33 CuadroTexto"/>
          <p:cNvSpPr txBox="1"/>
          <p:nvPr/>
        </p:nvSpPr>
        <p:spPr>
          <a:xfrm>
            <a:off x="2732702" y="301639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1</a:t>
            </a:r>
          </a:p>
        </p:txBody>
      </p:sp>
      <p:cxnSp>
        <p:nvCxnSpPr>
          <p:cNvPr id="23" name="34 Conector recto"/>
          <p:cNvCxnSpPr/>
          <p:nvPr/>
        </p:nvCxnSpPr>
        <p:spPr bwMode="auto">
          <a:xfrm>
            <a:off x="446702" y="3473593"/>
            <a:ext cx="27432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36 CuadroTexto"/>
          <p:cNvSpPr txBox="1"/>
          <p:nvPr/>
        </p:nvSpPr>
        <p:spPr>
          <a:xfrm>
            <a:off x="3189902" y="324499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0</a:t>
            </a:r>
          </a:p>
        </p:txBody>
      </p:sp>
      <p:cxnSp>
        <p:nvCxnSpPr>
          <p:cNvPr id="25" name="37 Conector recto"/>
          <p:cNvCxnSpPr/>
          <p:nvPr/>
        </p:nvCxnSpPr>
        <p:spPr bwMode="auto">
          <a:xfrm>
            <a:off x="446702" y="3702193"/>
            <a:ext cx="32004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39 CuadroTexto"/>
          <p:cNvSpPr txBox="1"/>
          <p:nvPr/>
        </p:nvSpPr>
        <p:spPr>
          <a:xfrm>
            <a:off x="3723302" y="347359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6</a:t>
            </a:r>
          </a:p>
        </p:txBody>
      </p:sp>
      <p:cxnSp>
        <p:nvCxnSpPr>
          <p:cNvPr id="27" name="40 Conector recto"/>
          <p:cNvCxnSpPr/>
          <p:nvPr/>
        </p:nvCxnSpPr>
        <p:spPr bwMode="auto">
          <a:xfrm>
            <a:off x="446702" y="3930793"/>
            <a:ext cx="3733800" cy="1333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42 CuadroTexto"/>
          <p:cNvSpPr txBox="1"/>
          <p:nvPr/>
        </p:nvSpPr>
        <p:spPr>
          <a:xfrm>
            <a:off x="4149137" y="367757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10</a:t>
            </a:r>
          </a:p>
        </p:txBody>
      </p:sp>
      <p:cxnSp>
        <p:nvCxnSpPr>
          <p:cNvPr id="29" name="43 Conector recto"/>
          <p:cNvCxnSpPr/>
          <p:nvPr/>
        </p:nvCxnSpPr>
        <p:spPr bwMode="auto">
          <a:xfrm flipV="1">
            <a:off x="446702" y="4154305"/>
            <a:ext cx="4437874" cy="3131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45 CuadroTexto"/>
          <p:cNvSpPr txBox="1"/>
          <p:nvPr/>
        </p:nvSpPr>
        <p:spPr>
          <a:xfrm>
            <a:off x="4911341" y="39441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2</a:t>
            </a:r>
          </a:p>
        </p:txBody>
      </p:sp>
      <p:sp>
        <p:nvSpPr>
          <p:cNvPr id="45" name="14 CuadroTexto"/>
          <p:cNvSpPr txBox="1"/>
          <p:nvPr/>
        </p:nvSpPr>
        <p:spPr>
          <a:xfrm>
            <a:off x="183890" y="1683198"/>
            <a:ext cx="3726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Empezando por el primero de la lista</a:t>
            </a:r>
            <a:endParaRPr lang="es-ES" i="0" dirty="0" smtClean="0">
              <a:solidFill>
                <a:schemeClr val="accent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46" name="14 CuadroTexto"/>
          <p:cNvSpPr txBox="1"/>
          <p:nvPr/>
        </p:nvSpPr>
        <p:spPr>
          <a:xfrm>
            <a:off x="212283" y="4241018"/>
            <a:ext cx="3726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Empezando por el segundo de la lista</a:t>
            </a:r>
            <a:endParaRPr lang="es-ES" i="0" dirty="0" smtClean="0">
              <a:solidFill>
                <a:schemeClr val="accent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51" name="15 CuadroTexto"/>
          <p:cNvSpPr txBox="1"/>
          <p:nvPr/>
        </p:nvSpPr>
        <p:spPr>
          <a:xfrm>
            <a:off x="730519" y="2000103"/>
            <a:ext cx="571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0" dirty="0" smtClean="0">
                <a:latin typeface="Consolas" pitchFamily="49" charset="0"/>
              </a:rPr>
              <a:t>2, -1, -3, 5, -2, -1, 6, 4, -8</a:t>
            </a:r>
            <a:endParaRPr lang="es-ES" sz="2000" b="1" i="0" dirty="0" smtClean="0">
              <a:solidFill>
                <a:srgbClr val="FFFFFF"/>
              </a:solidFill>
              <a:latin typeface="Consolas" pitchFamily="49" charset="0"/>
            </a:endParaRPr>
          </a:p>
        </p:txBody>
      </p:sp>
      <p:cxnSp>
        <p:nvCxnSpPr>
          <p:cNvPr id="52" name="17 Conector recto"/>
          <p:cNvCxnSpPr/>
          <p:nvPr/>
        </p:nvCxnSpPr>
        <p:spPr bwMode="auto">
          <a:xfrm>
            <a:off x="352939" y="4901569"/>
            <a:ext cx="3048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19 Conector recto"/>
          <p:cNvCxnSpPr/>
          <p:nvPr/>
        </p:nvCxnSpPr>
        <p:spPr bwMode="auto">
          <a:xfrm>
            <a:off x="352939" y="5053969"/>
            <a:ext cx="7620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21 Conector recto"/>
          <p:cNvCxnSpPr/>
          <p:nvPr/>
        </p:nvCxnSpPr>
        <p:spPr bwMode="auto">
          <a:xfrm>
            <a:off x="352939" y="5206369"/>
            <a:ext cx="13716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23 CuadroTexto"/>
          <p:cNvSpPr txBox="1"/>
          <p:nvPr/>
        </p:nvSpPr>
        <p:spPr>
          <a:xfrm>
            <a:off x="657739" y="4672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-1</a:t>
            </a:r>
          </a:p>
        </p:txBody>
      </p:sp>
      <p:sp>
        <p:nvSpPr>
          <p:cNvPr id="56" name="24 CuadroTexto"/>
          <p:cNvSpPr txBox="1"/>
          <p:nvPr/>
        </p:nvSpPr>
        <p:spPr>
          <a:xfrm>
            <a:off x="1208702" y="479358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-4</a:t>
            </a:r>
          </a:p>
        </p:txBody>
      </p:sp>
      <p:sp>
        <p:nvSpPr>
          <p:cNvPr id="57" name="27 CuadroTexto"/>
          <p:cNvSpPr txBox="1"/>
          <p:nvPr/>
        </p:nvSpPr>
        <p:spPr>
          <a:xfrm>
            <a:off x="1691104" y="49546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Consolas" pitchFamily="49" charset="0"/>
              </a:rPr>
              <a:t> </a:t>
            </a:r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1</a:t>
            </a:r>
          </a:p>
        </p:txBody>
      </p:sp>
      <p:cxnSp>
        <p:nvCxnSpPr>
          <p:cNvPr id="58" name="28 Conector recto"/>
          <p:cNvCxnSpPr/>
          <p:nvPr/>
        </p:nvCxnSpPr>
        <p:spPr bwMode="auto">
          <a:xfrm>
            <a:off x="352939" y="5434969"/>
            <a:ext cx="17526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30 CuadroTexto"/>
          <p:cNvSpPr txBox="1"/>
          <p:nvPr/>
        </p:nvSpPr>
        <p:spPr>
          <a:xfrm>
            <a:off x="2208439" y="520625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-1</a:t>
            </a:r>
          </a:p>
        </p:txBody>
      </p:sp>
      <p:cxnSp>
        <p:nvCxnSpPr>
          <p:cNvPr id="60" name="31 Conector recto"/>
          <p:cNvCxnSpPr/>
          <p:nvPr/>
        </p:nvCxnSpPr>
        <p:spPr bwMode="auto">
          <a:xfrm>
            <a:off x="352939" y="5691852"/>
            <a:ext cx="2508442" cy="3454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1" name="33 CuadroTexto"/>
          <p:cNvSpPr txBox="1"/>
          <p:nvPr/>
        </p:nvSpPr>
        <p:spPr>
          <a:xfrm>
            <a:off x="2773652" y="544315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-2</a:t>
            </a:r>
          </a:p>
        </p:txBody>
      </p:sp>
      <p:cxnSp>
        <p:nvCxnSpPr>
          <p:cNvPr id="62" name="34 Conector recto"/>
          <p:cNvCxnSpPr/>
          <p:nvPr/>
        </p:nvCxnSpPr>
        <p:spPr bwMode="auto">
          <a:xfrm>
            <a:off x="352939" y="5892169"/>
            <a:ext cx="27432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36 CuadroTexto"/>
          <p:cNvSpPr txBox="1"/>
          <p:nvPr/>
        </p:nvSpPr>
        <p:spPr>
          <a:xfrm>
            <a:off x="3324739" y="562806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4</a:t>
            </a:r>
          </a:p>
        </p:txBody>
      </p:sp>
      <p:cxnSp>
        <p:nvCxnSpPr>
          <p:cNvPr id="64" name="37 Conector recto"/>
          <p:cNvCxnSpPr/>
          <p:nvPr/>
        </p:nvCxnSpPr>
        <p:spPr bwMode="auto">
          <a:xfrm>
            <a:off x="352939" y="6120769"/>
            <a:ext cx="32004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5" name="39 CuadroTexto"/>
          <p:cNvSpPr txBox="1"/>
          <p:nvPr/>
        </p:nvSpPr>
        <p:spPr>
          <a:xfrm>
            <a:off x="3769623" y="588448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C00000"/>
                </a:solidFill>
                <a:latin typeface="Consolas" pitchFamily="49" charset="0"/>
              </a:rPr>
              <a:t>8</a:t>
            </a:r>
            <a:endParaRPr lang="es-ES" sz="1800" b="1" i="0" dirty="0" smtClean="0">
              <a:solidFill>
                <a:srgbClr val="C00000"/>
              </a:solidFill>
              <a:latin typeface="Consolas" pitchFamily="49" charset="0"/>
            </a:endParaRPr>
          </a:p>
        </p:txBody>
      </p:sp>
      <p:cxnSp>
        <p:nvCxnSpPr>
          <p:cNvPr id="66" name="40 Conector recto"/>
          <p:cNvCxnSpPr/>
          <p:nvPr/>
        </p:nvCxnSpPr>
        <p:spPr bwMode="auto">
          <a:xfrm flipV="1">
            <a:off x="352939" y="6345103"/>
            <a:ext cx="3886200" cy="426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42 CuadroTexto"/>
          <p:cNvSpPr txBox="1"/>
          <p:nvPr/>
        </p:nvSpPr>
        <p:spPr>
          <a:xfrm>
            <a:off x="4256702" y="606406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-0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22743" y="2036324"/>
            <a:ext cx="3733800" cy="31690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ounded Rectangle 76"/>
          <p:cNvSpPr/>
          <p:nvPr/>
        </p:nvSpPr>
        <p:spPr>
          <a:xfrm>
            <a:off x="691024" y="4528169"/>
            <a:ext cx="3385676" cy="31690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0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6" grpId="0"/>
      <p:bldP spid="17" grpId="0"/>
      <p:bldP spid="18" grpId="0"/>
      <p:bldP spid="20" grpId="0"/>
      <p:bldP spid="22" grpId="0"/>
      <p:bldP spid="24" grpId="0"/>
      <p:bldP spid="26" grpId="0"/>
      <p:bldP spid="28" grpId="0"/>
      <p:bldP spid="30" grpId="0"/>
      <p:bldP spid="45" grpId="0"/>
      <p:bldP spid="46" grpId="0"/>
      <p:bldP spid="51" grpId="0"/>
      <p:bldP spid="55" grpId="0"/>
      <p:bldP spid="56" grpId="0"/>
      <p:bldP spid="57" grpId="0"/>
      <p:bldP spid="59" grpId="0"/>
      <p:bldP spid="61" grpId="0"/>
      <p:bldP spid="63" grpId="0"/>
      <p:bldP spid="65" grpId="0"/>
      <p:bldP spid="67" grpId="0"/>
      <p:bldP spid="73" grpId="0" animBg="1"/>
      <p:bldP spid="7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2967789" cy="587829"/>
          </a:xfrm>
        </p:spPr>
        <p:txBody>
          <a:bodyPr>
            <a:normAutofit/>
          </a:bodyPr>
          <a:lstStyle/>
          <a:p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Fuerza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Bruta</a:t>
            </a:r>
            <a:endParaRPr lang="en-US" sz="3200" dirty="0">
              <a:solidFill>
                <a:schemeClr val="accent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18" y="587829"/>
            <a:ext cx="5496853" cy="6046236"/>
          </a:xfrm>
          <a:prstGeom prst="rect">
            <a:avLst/>
          </a:prstGeom>
        </p:spPr>
      </p:pic>
      <p:sp>
        <p:nvSpPr>
          <p:cNvPr id="8" name="44 Llamada rectangular redondeada"/>
          <p:cNvSpPr/>
          <p:nvPr/>
        </p:nvSpPr>
        <p:spPr bwMode="auto">
          <a:xfrm>
            <a:off x="4577861" y="1424058"/>
            <a:ext cx="5267849" cy="442674"/>
          </a:xfrm>
          <a:prstGeom prst="wedgeRoundRectCallout">
            <a:avLst>
              <a:gd name="adj1" fmla="val -72393"/>
              <a:gd name="adj2" fmla="val 286226"/>
              <a:gd name="adj3" fmla="val 16667"/>
            </a:avLst>
          </a:prstGeom>
          <a:gradFill flip="none" rotWithShape="1">
            <a:gsLst>
              <a:gs pos="0">
                <a:srgbClr val="0066FF">
                  <a:shade val="30000"/>
                  <a:satMod val="115000"/>
                </a:srgbClr>
              </a:gs>
              <a:gs pos="50000">
                <a:srgbClr val="0066FF">
                  <a:shade val="67500"/>
                  <a:satMod val="115000"/>
                </a:srgbClr>
              </a:gs>
              <a:gs pos="100000">
                <a:srgbClr val="0066F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 smtClean="0">
                <a:solidFill>
                  <a:schemeClr val="bg1"/>
                </a:solidFill>
                <a:latin typeface="Nina" pitchFamily="34" charset="0"/>
              </a:rPr>
              <a:t>La</a:t>
            </a:r>
            <a:r>
              <a:rPr lang="es-ES" sz="2000" dirty="0" smtClean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 i </a:t>
            </a:r>
            <a:r>
              <a:rPr lang="es-ES" sz="2000" dirty="0" smtClean="0">
                <a:solidFill>
                  <a:schemeClr val="bg1"/>
                </a:solidFill>
                <a:latin typeface="Nina" pitchFamily="34" charset="0"/>
              </a:rPr>
              <a:t>indica dónde </a:t>
            </a:r>
            <a:r>
              <a:rPr lang="es-ES" sz="2000" dirty="0">
                <a:solidFill>
                  <a:schemeClr val="bg1"/>
                </a:solidFill>
                <a:latin typeface="Nina" pitchFamily="34" charset="0"/>
              </a:rPr>
              <a:t>empieza la secuencia a probar</a:t>
            </a:r>
          </a:p>
        </p:txBody>
      </p:sp>
      <p:sp>
        <p:nvSpPr>
          <p:cNvPr id="9" name="51 Llamada rectangular redondeada"/>
          <p:cNvSpPr/>
          <p:nvPr/>
        </p:nvSpPr>
        <p:spPr bwMode="auto">
          <a:xfrm>
            <a:off x="4784451" y="2854997"/>
            <a:ext cx="4481564" cy="442674"/>
          </a:xfrm>
          <a:prstGeom prst="wedgeRoundRectCallout">
            <a:avLst>
              <a:gd name="adj1" fmla="val -99945"/>
              <a:gd name="adj2" fmla="val 95970"/>
              <a:gd name="adj3" fmla="val 16667"/>
            </a:avLst>
          </a:prstGeom>
          <a:gradFill flip="none" rotWithShape="1">
            <a:gsLst>
              <a:gs pos="0">
                <a:srgbClr val="0066FF">
                  <a:shade val="30000"/>
                  <a:satMod val="115000"/>
                </a:srgbClr>
              </a:gs>
              <a:gs pos="50000">
                <a:srgbClr val="0066FF">
                  <a:shade val="67500"/>
                  <a:satMod val="115000"/>
                </a:srgbClr>
              </a:gs>
              <a:gs pos="100000">
                <a:srgbClr val="0066F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 smtClean="0">
                <a:solidFill>
                  <a:schemeClr val="bg1"/>
                </a:solidFill>
                <a:latin typeface="Nina" pitchFamily="34" charset="0"/>
              </a:rPr>
              <a:t>La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 j </a:t>
            </a:r>
            <a:r>
              <a:rPr lang="es-ES" sz="2000" dirty="0" smtClean="0">
                <a:solidFill>
                  <a:schemeClr val="bg1"/>
                </a:solidFill>
                <a:latin typeface="Nina" pitchFamily="34" charset="0"/>
              </a:rPr>
              <a:t>dónde </a:t>
            </a:r>
            <a:r>
              <a:rPr lang="es-ES" sz="2000" dirty="0">
                <a:solidFill>
                  <a:schemeClr val="bg1"/>
                </a:solidFill>
                <a:latin typeface="Nina" pitchFamily="34" charset="0"/>
              </a:rPr>
              <a:t>termina la secuencia a probar</a:t>
            </a:r>
          </a:p>
        </p:txBody>
      </p:sp>
      <p:sp>
        <p:nvSpPr>
          <p:cNvPr id="10" name="53 Llamada rectangular redondeada"/>
          <p:cNvSpPr/>
          <p:nvPr/>
        </p:nvSpPr>
        <p:spPr bwMode="auto">
          <a:xfrm>
            <a:off x="5388249" y="4094895"/>
            <a:ext cx="4882183" cy="1464231"/>
          </a:xfrm>
          <a:prstGeom prst="wedgeRoundRectCallout">
            <a:avLst>
              <a:gd name="adj1" fmla="val -71978"/>
              <a:gd name="adj2" fmla="val -29236"/>
              <a:gd name="adj3" fmla="val 16667"/>
            </a:avLst>
          </a:prstGeom>
          <a:gradFill flip="none" rotWithShape="1">
            <a:gsLst>
              <a:gs pos="0">
                <a:srgbClr val="0066FF">
                  <a:shade val="30000"/>
                  <a:satMod val="115000"/>
                </a:srgbClr>
              </a:gs>
              <a:gs pos="50000">
                <a:srgbClr val="0066FF">
                  <a:shade val="67500"/>
                  <a:satMod val="115000"/>
                </a:srgbClr>
              </a:gs>
              <a:gs pos="100000">
                <a:srgbClr val="0066F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 smtClean="0">
                <a:solidFill>
                  <a:schemeClr val="bg1"/>
                </a:solidFill>
                <a:latin typeface="Nina" pitchFamily="34" charset="0"/>
              </a:rPr>
              <a:t>Una vez definido dónde empieza y termina la </a:t>
            </a:r>
            <a:r>
              <a:rPr lang="es-ES" sz="2000" dirty="0" err="1" smtClean="0">
                <a:solidFill>
                  <a:schemeClr val="bg1"/>
                </a:solidFill>
                <a:latin typeface="Nina" pitchFamily="34" charset="0"/>
              </a:rPr>
              <a:t>subsecuencia</a:t>
            </a:r>
            <a:r>
              <a:rPr lang="es-ES" sz="2000" dirty="0" smtClean="0">
                <a:solidFill>
                  <a:schemeClr val="bg1"/>
                </a:solidFill>
                <a:latin typeface="Nina" pitchFamily="34" charset="0"/>
              </a:rPr>
              <a:t> se recorre ésta para sumarla e irnos quedando con la </a:t>
            </a:r>
            <a:r>
              <a:rPr lang="es-ES" sz="2000" dirty="0" err="1" smtClean="0">
                <a:solidFill>
                  <a:schemeClr val="bg1"/>
                </a:solidFill>
                <a:latin typeface="Nina" pitchFamily="34" charset="0"/>
              </a:rPr>
              <a:t>la</a:t>
            </a:r>
            <a:r>
              <a:rPr lang="es-ES" sz="2000" dirty="0" smtClean="0">
                <a:solidFill>
                  <a:schemeClr val="bg1"/>
                </a:solidFill>
                <a:latin typeface="Nina" pitchFamily="34" charset="0"/>
              </a:rPr>
              <a:t> </a:t>
            </a:r>
            <a:r>
              <a:rPr lang="es-ES" sz="2000" dirty="0">
                <a:solidFill>
                  <a:schemeClr val="bg1"/>
                </a:solidFill>
                <a:latin typeface="Nina" pitchFamily="34" charset="0"/>
              </a:rPr>
              <a:t>suma mayor</a:t>
            </a:r>
          </a:p>
        </p:txBody>
      </p:sp>
    </p:spTree>
    <p:extLst>
      <p:ext uri="{BB962C8B-B14F-4D97-AF65-F5344CB8AC3E}">
        <p14:creationId xmlns:p14="http://schemas.microsoft.com/office/powerpoint/2010/main" val="424144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8" y="-72849"/>
            <a:ext cx="4226767" cy="587829"/>
          </a:xfrm>
        </p:spPr>
        <p:txBody>
          <a:bodyPr>
            <a:normAutofit/>
          </a:bodyPr>
          <a:lstStyle/>
          <a:p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Cuadratico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.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Menos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bruto</a:t>
            </a:r>
            <a:endParaRPr lang="en-US" sz="3200" dirty="0">
              <a:solidFill>
                <a:schemeClr val="accent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4</a:t>
            </a:fld>
            <a:endParaRPr lang="en-US"/>
          </a:p>
        </p:txBody>
      </p:sp>
      <p:sp>
        <p:nvSpPr>
          <p:cNvPr id="11" name="59 CuadroTexto"/>
          <p:cNvSpPr txBox="1"/>
          <p:nvPr/>
        </p:nvSpPr>
        <p:spPr>
          <a:xfrm>
            <a:off x="370952" y="3045138"/>
            <a:ext cx="3505200" cy="461665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Nina" pitchFamily="34" charset="0"/>
              </a:defRPr>
            </a:lvl1pPr>
          </a:lstStyle>
          <a:p>
            <a:r>
              <a:rPr lang="es-ES" dirty="0"/>
              <a:t>¿Qué cálculo se repite aquí?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370952" y="528570"/>
            <a:ext cx="571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0" dirty="0" smtClean="0">
                <a:latin typeface="Consolas" pitchFamily="49" charset="0"/>
              </a:rPr>
              <a:t>2, -1, -3, 5, -2, -1, 6, 4, -8</a:t>
            </a:r>
            <a:endParaRPr lang="es-ES" sz="2000" b="1" i="0" dirty="0" smtClean="0">
              <a:solidFill>
                <a:srgbClr val="FFFFFF"/>
              </a:solidFill>
              <a:latin typeface="Consolas" pitchFamily="49" charset="0"/>
            </a:endParaRPr>
          </a:p>
        </p:txBody>
      </p:sp>
      <p:cxnSp>
        <p:nvCxnSpPr>
          <p:cNvPr id="13" name="12 Conector recto"/>
          <p:cNvCxnSpPr/>
          <p:nvPr/>
        </p:nvCxnSpPr>
        <p:spPr bwMode="auto">
          <a:xfrm>
            <a:off x="370952" y="1277172"/>
            <a:ext cx="3048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13 Conector recto"/>
          <p:cNvCxnSpPr/>
          <p:nvPr/>
        </p:nvCxnSpPr>
        <p:spPr bwMode="auto">
          <a:xfrm>
            <a:off x="370952" y="1429572"/>
            <a:ext cx="7620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14 Conector recto"/>
          <p:cNvCxnSpPr/>
          <p:nvPr/>
        </p:nvCxnSpPr>
        <p:spPr bwMode="auto">
          <a:xfrm>
            <a:off x="370952" y="1581972"/>
            <a:ext cx="13716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15 CuadroTexto"/>
          <p:cNvSpPr txBox="1"/>
          <p:nvPr/>
        </p:nvSpPr>
        <p:spPr>
          <a:xfrm>
            <a:off x="675752" y="104857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2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1209152" y="112477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1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1742552" y="135337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-2</a:t>
            </a:r>
          </a:p>
        </p:txBody>
      </p:sp>
      <p:cxnSp>
        <p:nvCxnSpPr>
          <p:cNvPr id="19" name="18 Conector recto"/>
          <p:cNvCxnSpPr/>
          <p:nvPr/>
        </p:nvCxnSpPr>
        <p:spPr bwMode="auto">
          <a:xfrm>
            <a:off x="370952" y="1810572"/>
            <a:ext cx="17526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19 CuadroTexto"/>
          <p:cNvSpPr txBox="1"/>
          <p:nvPr/>
        </p:nvSpPr>
        <p:spPr>
          <a:xfrm>
            <a:off x="2199752" y="158197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3</a:t>
            </a:r>
          </a:p>
        </p:txBody>
      </p:sp>
      <p:cxnSp>
        <p:nvCxnSpPr>
          <p:cNvPr id="21" name="20 Conector recto"/>
          <p:cNvCxnSpPr/>
          <p:nvPr/>
        </p:nvCxnSpPr>
        <p:spPr bwMode="auto">
          <a:xfrm>
            <a:off x="370952" y="2039172"/>
            <a:ext cx="22860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21 CuadroTexto"/>
          <p:cNvSpPr txBox="1"/>
          <p:nvPr/>
        </p:nvSpPr>
        <p:spPr>
          <a:xfrm>
            <a:off x="2656952" y="181057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1</a:t>
            </a:r>
          </a:p>
        </p:txBody>
      </p:sp>
      <p:cxnSp>
        <p:nvCxnSpPr>
          <p:cNvPr id="23" name="22 Conector recto"/>
          <p:cNvCxnSpPr/>
          <p:nvPr/>
        </p:nvCxnSpPr>
        <p:spPr bwMode="auto">
          <a:xfrm>
            <a:off x="370952" y="2267772"/>
            <a:ext cx="27432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23 CuadroTexto"/>
          <p:cNvSpPr txBox="1"/>
          <p:nvPr/>
        </p:nvSpPr>
        <p:spPr>
          <a:xfrm>
            <a:off x="3114152" y="203917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0</a:t>
            </a:r>
          </a:p>
        </p:txBody>
      </p:sp>
      <p:cxnSp>
        <p:nvCxnSpPr>
          <p:cNvPr id="25" name="24 Conector recto"/>
          <p:cNvCxnSpPr/>
          <p:nvPr/>
        </p:nvCxnSpPr>
        <p:spPr bwMode="auto">
          <a:xfrm>
            <a:off x="370952" y="2496372"/>
            <a:ext cx="32004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25 CuadroTexto"/>
          <p:cNvSpPr txBox="1"/>
          <p:nvPr/>
        </p:nvSpPr>
        <p:spPr>
          <a:xfrm>
            <a:off x="3647552" y="226777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6</a:t>
            </a:r>
          </a:p>
        </p:txBody>
      </p:sp>
      <p:cxnSp>
        <p:nvCxnSpPr>
          <p:cNvPr id="27" name="26 Conector recto"/>
          <p:cNvCxnSpPr/>
          <p:nvPr/>
        </p:nvCxnSpPr>
        <p:spPr bwMode="auto">
          <a:xfrm>
            <a:off x="370952" y="2763382"/>
            <a:ext cx="35052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27 CuadroTexto"/>
          <p:cNvSpPr txBox="1"/>
          <p:nvPr/>
        </p:nvSpPr>
        <p:spPr>
          <a:xfrm>
            <a:off x="3952352" y="249637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10</a:t>
            </a:r>
          </a:p>
        </p:txBody>
      </p:sp>
      <p:cxnSp>
        <p:nvCxnSpPr>
          <p:cNvPr id="29" name="28 Conector recto"/>
          <p:cNvCxnSpPr/>
          <p:nvPr/>
        </p:nvCxnSpPr>
        <p:spPr bwMode="auto">
          <a:xfrm>
            <a:off x="370952" y="2953572"/>
            <a:ext cx="39624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29 CuadroTexto"/>
          <p:cNvSpPr txBox="1"/>
          <p:nvPr/>
        </p:nvSpPr>
        <p:spPr>
          <a:xfrm>
            <a:off x="4409552" y="272497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i="0" dirty="0" smtClean="0">
                <a:solidFill>
                  <a:srgbClr val="C00000"/>
                </a:solidFill>
                <a:latin typeface="Consolas" pitchFamily="49" charset="0"/>
              </a:rPr>
              <a:t>2</a:t>
            </a:r>
          </a:p>
        </p:txBody>
      </p:sp>
      <p:sp>
        <p:nvSpPr>
          <p:cNvPr id="32" name="33 Llamada rectangular redondeada"/>
          <p:cNvSpPr/>
          <p:nvPr/>
        </p:nvSpPr>
        <p:spPr bwMode="auto">
          <a:xfrm>
            <a:off x="428049" y="3705527"/>
            <a:ext cx="3645039" cy="442674"/>
          </a:xfrm>
          <a:prstGeom prst="wedgeRoundRectCallout">
            <a:avLst>
              <a:gd name="adj1" fmla="val 105021"/>
              <a:gd name="adj2" fmla="val -214427"/>
              <a:gd name="adj3" fmla="val 16667"/>
            </a:avLst>
          </a:prstGeom>
          <a:gradFill flip="none" rotWithShape="1">
            <a:gsLst>
              <a:gs pos="0">
                <a:srgbClr val="0066FF">
                  <a:shade val="30000"/>
                  <a:satMod val="115000"/>
                </a:srgbClr>
              </a:gs>
              <a:gs pos="50000">
                <a:srgbClr val="0066FF">
                  <a:shade val="67500"/>
                  <a:satMod val="115000"/>
                </a:srgbClr>
              </a:gs>
              <a:gs pos="100000">
                <a:srgbClr val="0066F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  <a:latin typeface="Nina" pitchFamily="34" charset="0"/>
              </a:rPr>
              <a:t>Dos ciclos al estilo de ordenar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132" y="360148"/>
            <a:ext cx="5477639" cy="6178764"/>
          </a:xfrm>
          <a:prstGeom prst="rect">
            <a:avLst/>
          </a:prstGeom>
        </p:spPr>
      </p:pic>
      <p:sp>
        <p:nvSpPr>
          <p:cNvPr id="34" name="65 CuadroTexto"/>
          <p:cNvSpPr txBox="1"/>
          <p:nvPr/>
        </p:nvSpPr>
        <p:spPr>
          <a:xfrm>
            <a:off x="248374" y="5579968"/>
            <a:ext cx="5601919" cy="892552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s-ES" sz="2400" i="0" dirty="0" smtClean="0">
                <a:solidFill>
                  <a:srgbClr val="FFFFFF"/>
                </a:solidFill>
                <a:latin typeface="Nina" pitchFamily="34" charset="0"/>
              </a:rPr>
              <a:t>Dos ciclos anidados. Costo </a:t>
            </a:r>
            <a:r>
              <a:rPr lang="es-ES" sz="2400" i="0" dirty="0" smtClean="0">
                <a:solidFill>
                  <a:srgbClr val="FFFFFF"/>
                </a:solidFill>
                <a:latin typeface="Nina" pitchFamily="34" charset="0"/>
              </a:rPr>
              <a:t>aproximado </a:t>
            </a:r>
            <a:r>
              <a:rPr lang="es-ES" sz="2400" i="0" dirty="0" smtClean="0">
                <a:solidFill>
                  <a:srgbClr val="FFFFFF"/>
                </a:solidFill>
                <a:latin typeface="Nina" pitchFamily="34" charset="0"/>
              </a:rPr>
              <a:t>de </a:t>
            </a:r>
            <a:r>
              <a:rPr lang="es-ES" sz="2800" b="1" dirty="0" smtClean="0">
                <a:solidFill>
                  <a:srgbClr val="FFFF00"/>
                </a:solidFill>
                <a:latin typeface="Consolas" pitchFamily="49" charset="0"/>
              </a:rPr>
              <a:t>n</a:t>
            </a:r>
            <a:r>
              <a:rPr lang="es-ES" sz="2800" b="1" baseline="30000" dirty="0" smtClean="0">
                <a:solidFill>
                  <a:srgbClr val="FFFF00"/>
                </a:solidFill>
                <a:latin typeface="Consolas" pitchFamily="49" charset="0"/>
              </a:rPr>
              <a:t>2</a:t>
            </a:r>
          </a:p>
        </p:txBody>
      </p:sp>
      <p:sp>
        <p:nvSpPr>
          <p:cNvPr id="33" name="34 Llamada rectangular redondeada"/>
          <p:cNvSpPr/>
          <p:nvPr/>
        </p:nvSpPr>
        <p:spPr bwMode="auto">
          <a:xfrm>
            <a:off x="161958" y="4305181"/>
            <a:ext cx="5904387" cy="1123712"/>
          </a:xfrm>
          <a:prstGeom prst="wedgeRoundRectCallout">
            <a:avLst>
              <a:gd name="adj1" fmla="val 59704"/>
              <a:gd name="adj2" fmla="val -59218"/>
              <a:gd name="adj3" fmla="val 16667"/>
            </a:avLst>
          </a:prstGeom>
          <a:gradFill flip="none" rotWithShape="1">
            <a:gsLst>
              <a:gs pos="0">
                <a:srgbClr val="0066FF">
                  <a:shade val="30000"/>
                  <a:satMod val="115000"/>
                </a:srgbClr>
              </a:gs>
              <a:gs pos="50000">
                <a:srgbClr val="0066FF">
                  <a:shade val="67500"/>
                  <a:satMod val="115000"/>
                </a:srgbClr>
              </a:gs>
              <a:gs pos="100000">
                <a:srgbClr val="0066F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 smtClean="0">
                <a:solidFill>
                  <a:schemeClr val="bg1"/>
                </a:solidFill>
                <a:latin typeface="Nina" pitchFamily="34" charset="0"/>
              </a:rPr>
              <a:t>No hay que recorrer de nuevo toda la </a:t>
            </a:r>
            <a:r>
              <a:rPr lang="es-ES" sz="2000" dirty="0" err="1" smtClean="0">
                <a:solidFill>
                  <a:schemeClr val="bg1"/>
                </a:solidFill>
                <a:latin typeface="Nina" pitchFamily="34" charset="0"/>
              </a:rPr>
              <a:t>subsecuencia</a:t>
            </a:r>
            <a:r>
              <a:rPr lang="es-ES" sz="2000" dirty="0" smtClean="0">
                <a:solidFill>
                  <a:schemeClr val="bg1"/>
                </a:solidFill>
                <a:latin typeface="Nina" pitchFamily="34" charset="0"/>
              </a:rPr>
              <a:t> para aquella que empiecen en el mismo elemento. Se aprovecha la suma anterior</a:t>
            </a:r>
            <a:endParaRPr lang="es-ES" sz="2000" dirty="0">
              <a:solidFill>
                <a:schemeClr val="bg1"/>
              </a:solidFill>
              <a:latin typeface="Ni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67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2" grpId="0" animBg="1"/>
      <p:bldP spid="34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5</a:t>
            </a:fld>
            <a:endParaRPr lang="en-US"/>
          </a:p>
        </p:txBody>
      </p:sp>
      <p:sp>
        <p:nvSpPr>
          <p:cNvPr id="6" name="10 CuadroTexto"/>
          <p:cNvSpPr txBox="1"/>
          <p:nvPr/>
        </p:nvSpPr>
        <p:spPr>
          <a:xfrm>
            <a:off x="690465" y="719494"/>
            <a:ext cx="86160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i="0" dirty="0" smtClean="0">
                <a:latin typeface="Arial Narrow" panose="020B0606020202030204" pitchFamily="34" charset="0"/>
              </a:rPr>
              <a:t>Dividir el problema a la mitad y buscar una solución que se base en dicha mitad</a:t>
            </a:r>
            <a:r>
              <a:rPr lang="es-ES" b="1" i="0" dirty="0" smtClean="0">
                <a:latin typeface="Nina" pitchFamily="34" charset="0"/>
              </a:rPr>
              <a:t>. </a:t>
            </a:r>
          </a:p>
        </p:txBody>
      </p:sp>
      <p:sp>
        <p:nvSpPr>
          <p:cNvPr id="7" name="77 CuadroTexto"/>
          <p:cNvSpPr txBox="1"/>
          <p:nvPr/>
        </p:nvSpPr>
        <p:spPr>
          <a:xfrm>
            <a:off x="1572208" y="2064642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i="0" dirty="0" smtClean="0">
                <a:latin typeface="Consolas" pitchFamily="49" charset="0"/>
              </a:rPr>
              <a:t>-2, 10, 4, </a:t>
            </a:r>
            <a:r>
              <a:rPr lang="es-ES" sz="2000" b="1" i="0" dirty="0" smtClean="0">
                <a:latin typeface="Consolas" pitchFamily="49" charset="0"/>
              </a:rPr>
              <a:t>5</a:t>
            </a:r>
            <a:r>
              <a:rPr lang="es-ES" b="1" i="0" dirty="0" smtClean="0">
                <a:latin typeface="Consolas" pitchFamily="49" charset="0"/>
              </a:rPr>
              <a:t>, </a:t>
            </a:r>
            <a:r>
              <a:rPr lang="es-ES" sz="3200" b="1" i="0" dirty="0" smtClean="0">
                <a:latin typeface="Consolas" pitchFamily="49" charset="0"/>
              </a:rPr>
              <a:t>-2</a:t>
            </a:r>
            <a:r>
              <a:rPr lang="es-ES" b="1" i="0" dirty="0" smtClean="0">
                <a:latin typeface="Consolas" pitchFamily="49" charset="0"/>
              </a:rPr>
              <a:t>, </a:t>
            </a:r>
            <a:r>
              <a:rPr lang="es-ES" sz="2000" b="1" i="0" dirty="0" smtClean="0">
                <a:latin typeface="Consolas" pitchFamily="49" charset="0"/>
              </a:rPr>
              <a:t>-1, -6, 7, -8, 1</a:t>
            </a:r>
            <a:endParaRPr lang="es-ES" sz="2000" i="0" dirty="0" smtClean="0">
              <a:latin typeface="Consolas" pitchFamily="49" charset="0"/>
            </a:endParaRPr>
          </a:p>
        </p:txBody>
      </p:sp>
      <p:sp>
        <p:nvSpPr>
          <p:cNvPr id="8" name="14 CuadroTexto"/>
          <p:cNvSpPr txBox="1"/>
          <p:nvPr/>
        </p:nvSpPr>
        <p:spPr>
          <a:xfrm>
            <a:off x="1450729" y="5143923"/>
            <a:ext cx="655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i="0" dirty="0" smtClean="0">
                <a:latin typeface="Consolas" pitchFamily="49" charset="0"/>
              </a:rPr>
              <a:t>2, -1, -3, </a:t>
            </a:r>
            <a:r>
              <a:rPr lang="es-ES" sz="2000" b="1" i="0" dirty="0" smtClean="0">
                <a:latin typeface="Consolas" pitchFamily="49" charset="0"/>
              </a:rPr>
              <a:t>5, </a:t>
            </a:r>
            <a:r>
              <a:rPr lang="es-ES" sz="3200" b="1" i="0" dirty="0">
                <a:latin typeface="Consolas" pitchFamily="49" charset="0"/>
              </a:rPr>
              <a:t>-2</a:t>
            </a:r>
            <a:r>
              <a:rPr lang="es-ES" b="1" i="0" dirty="0" smtClean="0">
                <a:latin typeface="Consolas" pitchFamily="49" charset="0"/>
              </a:rPr>
              <a:t>, </a:t>
            </a:r>
            <a:r>
              <a:rPr lang="es-ES" sz="2000" b="1" i="0" dirty="0" smtClean="0">
                <a:latin typeface="Consolas" pitchFamily="49" charset="0"/>
              </a:rPr>
              <a:t>-1, 6, 4, -8, 1</a:t>
            </a:r>
            <a:endParaRPr lang="es-ES" sz="2000" i="0" dirty="0" smtClean="0">
              <a:latin typeface="Consolas" pitchFamily="49" charset="0"/>
            </a:endParaRPr>
          </a:p>
        </p:txBody>
      </p:sp>
      <p:cxnSp>
        <p:nvCxnSpPr>
          <p:cNvPr id="9" name="15 Conector recto"/>
          <p:cNvCxnSpPr/>
          <p:nvPr/>
        </p:nvCxnSpPr>
        <p:spPr bwMode="auto">
          <a:xfrm>
            <a:off x="3127129" y="5719207"/>
            <a:ext cx="22098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16 CuadroTexto"/>
          <p:cNvSpPr txBox="1"/>
          <p:nvPr/>
        </p:nvSpPr>
        <p:spPr>
          <a:xfrm>
            <a:off x="3916762" y="5785789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i="0" dirty="0" smtClean="0">
                <a:solidFill>
                  <a:srgbClr val="C00000"/>
                </a:solidFill>
                <a:latin typeface="Consolas" pitchFamily="49" charset="0"/>
              </a:rPr>
              <a:t>12</a:t>
            </a:r>
          </a:p>
        </p:txBody>
      </p:sp>
      <p:cxnSp>
        <p:nvCxnSpPr>
          <p:cNvPr id="11" name="17 Conector recto"/>
          <p:cNvCxnSpPr/>
          <p:nvPr/>
        </p:nvCxnSpPr>
        <p:spPr bwMode="auto">
          <a:xfrm>
            <a:off x="2185850" y="2616180"/>
            <a:ext cx="12954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19 CuadroTexto"/>
          <p:cNvSpPr txBox="1"/>
          <p:nvPr/>
        </p:nvSpPr>
        <p:spPr>
          <a:xfrm>
            <a:off x="2528750" y="266778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i="0" dirty="0" smtClean="0">
                <a:solidFill>
                  <a:srgbClr val="C00000"/>
                </a:solidFill>
                <a:latin typeface="Consolas" pitchFamily="49" charset="0"/>
              </a:rPr>
              <a:t>19</a:t>
            </a:r>
          </a:p>
        </p:txBody>
      </p:sp>
      <p:sp>
        <p:nvSpPr>
          <p:cNvPr id="13" name="20 CuadroTexto"/>
          <p:cNvSpPr txBox="1"/>
          <p:nvPr/>
        </p:nvSpPr>
        <p:spPr>
          <a:xfrm>
            <a:off x="1450729" y="3481268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i="0" dirty="0" smtClean="0">
                <a:latin typeface="Consolas" pitchFamily="49" charset="0"/>
              </a:rPr>
              <a:t>-2, -15, 4, 1</a:t>
            </a:r>
            <a:r>
              <a:rPr lang="es-ES" sz="2000" b="1" i="0" dirty="0" smtClean="0">
                <a:latin typeface="Consolas" pitchFamily="49" charset="0"/>
              </a:rPr>
              <a:t>, </a:t>
            </a:r>
            <a:r>
              <a:rPr lang="es-ES" sz="3200" b="1" i="0" dirty="0" smtClean="0">
                <a:latin typeface="Consolas" pitchFamily="49" charset="0"/>
              </a:rPr>
              <a:t>-2</a:t>
            </a:r>
            <a:r>
              <a:rPr lang="es-ES" b="1" i="0" dirty="0" smtClean="0">
                <a:latin typeface="Consolas" pitchFamily="49" charset="0"/>
              </a:rPr>
              <a:t>, </a:t>
            </a:r>
            <a:r>
              <a:rPr lang="es-ES" sz="2000" b="1" i="0" dirty="0" smtClean="0">
                <a:latin typeface="Consolas" pitchFamily="49" charset="0"/>
              </a:rPr>
              <a:t>-1, -6, 7, -1, 8, -2</a:t>
            </a:r>
            <a:endParaRPr lang="es-ES" sz="2000" i="0" dirty="0" smtClean="0">
              <a:latin typeface="Consolas" pitchFamily="49" charset="0"/>
            </a:endParaRPr>
          </a:p>
        </p:txBody>
      </p:sp>
      <p:cxnSp>
        <p:nvCxnSpPr>
          <p:cNvPr id="14" name="21 Conector recto"/>
          <p:cNvCxnSpPr/>
          <p:nvPr/>
        </p:nvCxnSpPr>
        <p:spPr bwMode="auto">
          <a:xfrm>
            <a:off x="5413129" y="3962727"/>
            <a:ext cx="12192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23 CuadroTexto"/>
          <p:cNvSpPr txBox="1"/>
          <p:nvPr/>
        </p:nvSpPr>
        <p:spPr>
          <a:xfrm>
            <a:off x="5756029" y="4061923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i="0" dirty="0" smtClean="0">
                <a:solidFill>
                  <a:srgbClr val="C00000"/>
                </a:solidFill>
                <a:latin typeface="Consolas" pitchFamily="49" charset="0"/>
              </a:rPr>
              <a:t>14</a:t>
            </a:r>
          </a:p>
        </p:txBody>
      </p:sp>
      <p:sp>
        <p:nvSpPr>
          <p:cNvPr id="16" name="25 Rectángulo"/>
          <p:cNvSpPr/>
          <p:nvPr/>
        </p:nvSpPr>
        <p:spPr bwMode="auto">
          <a:xfrm>
            <a:off x="1556599" y="2055690"/>
            <a:ext cx="2553901" cy="989623"/>
          </a:xfrm>
          <a:prstGeom prst="rect">
            <a:avLst/>
          </a:prstGeom>
          <a:solidFill>
            <a:srgbClr val="0070C0">
              <a:alpha val="20000"/>
            </a:srgbClr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400" b="0" i="1" u="none" strike="noStrike" cap="none" normalizeH="0" baseline="0" smtClean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7" name="26 Rectángulo"/>
          <p:cNvSpPr/>
          <p:nvPr/>
        </p:nvSpPr>
        <p:spPr bwMode="auto">
          <a:xfrm>
            <a:off x="4265015" y="3391431"/>
            <a:ext cx="3097492" cy="989623"/>
          </a:xfrm>
          <a:prstGeom prst="rect">
            <a:avLst/>
          </a:prstGeom>
          <a:solidFill>
            <a:srgbClr val="0070C0">
              <a:alpha val="20000"/>
            </a:srgbClr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" sz="24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8" name="27 Rectángulo"/>
          <p:cNvSpPr/>
          <p:nvPr/>
        </p:nvSpPr>
        <p:spPr bwMode="auto">
          <a:xfrm>
            <a:off x="3049974" y="5171607"/>
            <a:ext cx="2483023" cy="989623"/>
          </a:xfrm>
          <a:prstGeom prst="rect">
            <a:avLst/>
          </a:prstGeom>
          <a:solidFill>
            <a:srgbClr val="0070C0">
              <a:alpha val="20000"/>
            </a:srgbClr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" sz="24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9" name="28 CuadroTexto"/>
          <p:cNvSpPr txBox="1"/>
          <p:nvPr/>
        </p:nvSpPr>
        <p:spPr>
          <a:xfrm>
            <a:off x="6924066" y="2021452"/>
            <a:ext cx="2850048" cy="1015663"/>
          </a:xfrm>
          <a:prstGeom prst="rect">
            <a:avLst/>
          </a:prstGeom>
          <a:gradFill flip="none" rotWithShape="1">
            <a:gsLst>
              <a:gs pos="0">
                <a:srgbClr val="0066FF">
                  <a:shade val="30000"/>
                  <a:satMod val="115000"/>
                </a:srgbClr>
              </a:gs>
              <a:gs pos="50000">
                <a:srgbClr val="0066FF">
                  <a:shade val="67500"/>
                  <a:satMod val="115000"/>
                </a:srgbClr>
              </a:gs>
              <a:gs pos="100000">
                <a:srgbClr val="0066F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bg1"/>
                </a:solidFill>
                <a:latin typeface="Nina" pitchFamily="34" charset="0"/>
              </a:defRPr>
            </a:lvl1pPr>
          </a:lstStyle>
          <a:p>
            <a:r>
              <a:rPr lang="es-ES" dirty="0"/>
              <a:t>La secuencia de suma máxima está en la primera mitad</a:t>
            </a:r>
          </a:p>
        </p:txBody>
      </p:sp>
      <p:sp>
        <p:nvSpPr>
          <p:cNvPr id="20" name="29 CuadroTexto"/>
          <p:cNvSpPr txBox="1"/>
          <p:nvPr/>
        </p:nvSpPr>
        <p:spPr>
          <a:xfrm>
            <a:off x="6608883" y="5164857"/>
            <a:ext cx="3088570" cy="1015663"/>
          </a:xfrm>
          <a:prstGeom prst="rect">
            <a:avLst/>
          </a:prstGeom>
          <a:gradFill flip="none" rotWithShape="1">
            <a:gsLst>
              <a:gs pos="0">
                <a:srgbClr val="0066FF">
                  <a:shade val="30000"/>
                  <a:satMod val="115000"/>
                </a:srgbClr>
              </a:gs>
              <a:gs pos="50000">
                <a:srgbClr val="0066FF">
                  <a:shade val="67500"/>
                  <a:satMod val="115000"/>
                </a:srgbClr>
              </a:gs>
              <a:gs pos="100000">
                <a:srgbClr val="0066F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bg1"/>
                </a:solidFill>
                <a:latin typeface="Nina" pitchFamily="34" charset="0"/>
              </a:defRPr>
            </a:lvl1pPr>
          </a:lstStyle>
          <a:p>
            <a:r>
              <a:rPr lang="es-ES" dirty="0"/>
              <a:t>Empieza en la primera mitad y termina en la segunda mitad</a:t>
            </a:r>
          </a:p>
        </p:txBody>
      </p:sp>
      <p:sp>
        <p:nvSpPr>
          <p:cNvPr id="21" name="30 CuadroTexto"/>
          <p:cNvSpPr txBox="1"/>
          <p:nvPr/>
        </p:nvSpPr>
        <p:spPr>
          <a:xfrm>
            <a:off x="7530901" y="3391431"/>
            <a:ext cx="2243213" cy="1015663"/>
          </a:xfrm>
          <a:prstGeom prst="rect">
            <a:avLst/>
          </a:prstGeom>
          <a:gradFill flip="none" rotWithShape="1">
            <a:gsLst>
              <a:gs pos="0">
                <a:srgbClr val="0066FF">
                  <a:shade val="30000"/>
                  <a:satMod val="115000"/>
                </a:srgbClr>
              </a:gs>
              <a:gs pos="50000">
                <a:srgbClr val="0066FF">
                  <a:shade val="67500"/>
                  <a:satMod val="115000"/>
                </a:srgbClr>
              </a:gs>
              <a:gs pos="100000">
                <a:srgbClr val="0066F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bg1"/>
                </a:solidFill>
                <a:latin typeface="Nina" pitchFamily="34" charset="0"/>
              </a:defRPr>
            </a:lvl1pPr>
          </a:lstStyle>
          <a:p>
            <a:r>
              <a:rPr lang="es-ES" dirty="0"/>
              <a:t>La secuencia </a:t>
            </a:r>
            <a:r>
              <a:rPr lang="es-ES" dirty="0" smtClean="0"/>
              <a:t>de </a:t>
            </a:r>
            <a:r>
              <a:rPr lang="es-ES" dirty="0"/>
              <a:t>suma máxima está en la segunda mitad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64718" y="85653"/>
            <a:ext cx="4226767" cy="587829"/>
          </a:xfrm>
        </p:spPr>
        <p:txBody>
          <a:bodyPr>
            <a:normAutofit fontScale="90000"/>
          </a:bodyPr>
          <a:lstStyle/>
          <a:p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Recursivo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, Divide y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Vencerás</a:t>
            </a:r>
            <a:endParaRPr lang="en-US" sz="3200" dirty="0">
              <a:solidFill>
                <a:schemeClr val="accent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90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Programación CD, MKM, MATCOM UH 2025-2026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4E079-F453-44CE-A95A-F40592D841AF}" type="slidenum">
              <a:rPr lang="en-US" smtClean="0"/>
              <a:t>6</a:t>
            </a:fld>
            <a:endParaRPr lang="en-US"/>
          </a:p>
        </p:txBody>
      </p:sp>
      <p:sp>
        <p:nvSpPr>
          <p:cNvPr id="6" name="14 CuadroTexto"/>
          <p:cNvSpPr txBox="1"/>
          <p:nvPr/>
        </p:nvSpPr>
        <p:spPr>
          <a:xfrm>
            <a:off x="2959120" y="688910"/>
            <a:ext cx="655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i="0" dirty="0" smtClean="0">
                <a:latin typeface="Consolas" pitchFamily="49" charset="0"/>
              </a:rPr>
              <a:t>2, -1, -3, </a:t>
            </a:r>
            <a:r>
              <a:rPr lang="es-ES" sz="2000" b="1" i="0" dirty="0" smtClean="0">
                <a:latin typeface="Consolas" pitchFamily="49" charset="0"/>
              </a:rPr>
              <a:t>5, -2, -1, 6, 4, -8, 1</a:t>
            </a:r>
            <a:endParaRPr lang="es-ES" sz="2000" i="0" dirty="0" smtClean="0">
              <a:latin typeface="Consolas" pitchFamily="49" charset="0"/>
            </a:endParaRPr>
          </a:p>
        </p:txBody>
      </p:sp>
      <p:cxnSp>
        <p:nvCxnSpPr>
          <p:cNvPr id="7" name="24 Conector recto"/>
          <p:cNvCxnSpPr/>
          <p:nvPr/>
        </p:nvCxnSpPr>
        <p:spPr bwMode="auto">
          <a:xfrm rot="5400000">
            <a:off x="4685718" y="992916"/>
            <a:ext cx="1066800" cy="1588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8" name="32 CuadroTexto"/>
          <p:cNvSpPr txBox="1"/>
          <p:nvPr/>
        </p:nvSpPr>
        <p:spPr>
          <a:xfrm>
            <a:off x="2441629" y="3129935"/>
            <a:ext cx="2651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800" i="0" dirty="0" smtClean="0">
                <a:latin typeface="Nina" pitchFamily="34" charset="0"/>
              </a:rPr>
              <a:t>Empezando en la mitad hacia la izquierda</a:t>
            </a:r>
          </a:p>
        </p:txBody>
      </p:sp>
      <p:cxnSp>
        <p:nvCxnSpPr>
          <p:cNvPr id="9" name="34 Conector recto"/>
          <p:cNvCxnSpPr/>
          <p:nvPr/>
        </p:nvCxnSpPr>
        <p:spPr bwMode="auto">
          <a:xfrm>
            <a:off x="4635520" y="1147698"/>
            <a:ext cx="4572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36 CuadroTexto"/>
          <p:cNvSpPr txBox="1"/>
          <p:nvPr/>
        </p:nvSpPr>
        <p:spPr>
          <a:xfrm>
            <a:off x="3083050" y="2379010"/>
            <a:ext cx="1676400" cy="461665"/>
          </a:xfrm>
          <a:prstGeom prst="rect">
            <a:avLst/>
          </a:prstGeom>
          <a:solidFill>
            <a:srgbClr val="0066F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i="0" dirty="0" smtClean="0">
                <a:solidFill>
                  <a:schemeClr val="bg1"/>
                </a:solidFill>
              </a:rPr>
              <a:t>-2</a:t>
            </a:r>
            <a:endParaRPr lang="es-ES" sz="2400" b="1" i="0" dirty="0">
              <a:solidFill>
                <a:schemeClr val="bg1"/>
              </a:solidFill>
            </a:endParaRPr>
          </a:p>
        </p:txBody>
      </p:sp>
      <p:cxnSp>
        <p:nvCxnSpPr>
          <p:cNvPr id="11" name="37 Conector recto"/>
          <p:cNvCxnSpPr/>
          <p:nvPr/>
        </p:nvCxnSpPr>
        <p:spPr bwMode="auto">
          <a:xfrm>
            <a:off x="4178320" y="1300098"/>
            <a:ext cx="9144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39 CuadroTexto"/>
          <p:cNvSpPr txBox="1"/>
          <p:nvPr/>
        </p:nvSpPr>
        <p:spPr>
          <a:xfrm>
            <a:off x="3083050" y="2379010"/>
            <a:ext cx="1676400" cy="461665"/>
          </a:xfrm>
          <a:prstGeom prst="rect">
            <a:avLst/>
          </a:prstGeom>
          <a:solidFill>
            <a:srgbClr val="0066F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i="0" dirty="0" smtClean="0">
                <a:solidFill>
                  <a:schemeClr val="bg1"/>
                </a:solidFill>
              </a:rPr>
              <a:t>3</a:t>
            </a:r>
            <a:endParaRPr lang="es-ES" sz="2400" b="1" i="0" dirty="0">
              <a:solidFill>
                <a:schemeClr val="bg1"/>
              </a:solidFill>
            </a:endParaRPr>
          </a:p>
        </p:txBody>
      </p:sp>
      <p:cxnSp>
        <p:nvCxnSpPr>
          <p:cNvPr id="13" name="40 Conector recto"/>
          <p:cNvCxnSpPr/>
          <p:nvPr/>
        </p:nvCxnSpPr>
        <p:spPr bwMode="auto">
          <a:xfrm>
            <a:off x="3568720" y="1528698"/>
            <a:ext cx="15240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42 Conector recto"/>
          <p:cNvCxnSpPr/>
          <p:nvPr/>
        </p:nvCxnSpPr>
        <p:spPr bwMode="auto">
          <a:xfrm>
            <a:off x="2959120" y="1757298"/>
            <a:ext cx="21336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44 Conector recto"/>
          <p:cNvCxnSpPr/>
          <p:nvPr/>
        </p:nvCxnSpPr>
        <p:spPr bwMode="auto">
          <a:xfrm>
            <a:off x="2349520" y="1985898"/>
            <a:ext cx="27432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46 CuadroTexto"/>
          <p:cNvSpPr txBox="1"/>
          <p:nvPr/>
        </p:nvSpPr>
        <p:spPr>
          <a:xfrm>
            <a:off x="5882353" y="3140040"/>
            <a:ext cx="3140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i="0" dirty="0" smtClean="0">
                <a:latin typeface="Nina" pitchFamily="34" charset="0"/>
              </a:rPr>
              <a:t>Empezando en la mitad hacia la derecha</a:t>
            </a:r>
          </a:p>
        </p:txBody>
      </p:sp>
      <p:sp>
        <p:nvSpPr>
          <p:cNvPr id="17" name="47 CuadroTexto"/>
          <p:cNvSpPr txBox="1"/>
          <p:nvPr/>
        </p:nvSpPr>
        <p:spPr>
          <a:xfrm>
            <a:off x="5816620" y="2379011"/>
            <a:ext cx="1676400" cy="400110"/>
          </a:xfrm>
          <a:prstGeom prst="rect">
            <a:avLst/>
          </a:prstGeom>
          <a:solidFill>
            <a:srgbClr val="0066F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i="0" dirty="0" smtClean="0"/>
              <a:t>-1</a:t>
            </a:r>
            <a:endParaRPr lang="es-ES" sz="2000" b="1" i="0" dirty="0"/>
          </a:p>
        </p:txBody>
      </p:sp>
      <p:sp>
        <p:nvSpPr>
          <p:cNvPr id="18" name="48 CuadroTexto"/>
          <p:cNvSpPr txBox="1"/>
          <p:nvPr/>
        </p:nvSpPr>
        <p:spPr>
          <a:xfrm>
            <a:off x="5816620" y="2379010"/>
            <a:ext cx="1676400" cy="461665"/>
          </a:xfrm>
          <a:prstGeom prst="rect">
            <a:avLst/>
          </a:prstGeom>
          <a:solidFill>
            <a:srgbClr val="0066F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i="0" dirty="0" smtClean="0">
                <a:solidFill>
                  <a:schemeClr val="bg1"/>
                </a:solidFill>
              </a:rPr>
              <a:t>5</a:t>
            </a:r>
            <a:endParaRPr lang="es-ES" sz="2400" b="1" i="0" dirty="0">
              <a:solidFill>
                <a:schemeClr val="bg1"/>
              </a:solidFill>
            </a:endParaRPr>
          </a:p>
        </p:txBody>
      </p:sp>
      <p:cxnSp>
        <p:nvCxnSpPr>
          <p:cNvPr id="19" name="49 Conector recto"/>
          <p:cNvCxnSpPr/>
          <p:nvPr/>
        </p:nvCxnSpPr>
        <p:spPr bwMode="auto">
          <a:xfrm>
            <a:off x="5397520" y="1147698"/>
            <a:ext cx="50074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50 Conector recto"/>
          <p:cNvCxnSpPr/>
          <p:nvPr/>
        </p:nvCxnSpPr>
        <p:spPr bwMode="auto">
          <a:xfrm>
            <a:off x="5397520" y="1300098"/>
            <a:ext cx="8382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52 Conector recto"/>
          <p:cNvCxnSpPr/>
          <p:nvPr/>
        </p:nvCxnSpPr>
        <p:spPr bwMode="auto">
          <a:xfrm>
            <a:off x="5397520" y="1528698"/>
            <a:ext cx="13716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54 CuadroTexto"/>
          <p:cNvSpPr txBox="1"/>
          <p:nvPr/>
        </p:nvSpPr>
        <p:spPr>
          <a:xfrm>
            <a:off x="5816620" y="2379010"/>
            <a:ext cx="1676400" cy="461665"/>
          </a:xfrm>
          <a:prstGeom prst="rect">
            <a:avLst/>
          </a:prstGeom>
          <a:solidFill>
            <a:srgbClr val="0066F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i="0" dirty="0" smtClean="0">
                <a:solidFill>
                  <a:schemeClr val="bg1"/>
                </a:solidFill>
              </a:rPr>
              <a:t>9</a:t>
            </a:r>
            <a:endParaRPr lang="es-ES" sz="2400" b="1" i="0" dirty="0">
              <a:solidFill>
                <a:schemeClr val="bg1"/>
              </a:solidFill>
            </a:endParaRPr>
          </a:p>
        </p:txBody>
      </p:sp>
      <p:cxnSp>
        <p:nvCxnSpPr>
          <p:cNvPr id="23" name="55 Conector recto"/>
          <p:cNvCxnSpPr/>
          <p:nvPr/>
        </p:nvCxnSpPr>
        <p:spPr bwMode="auto">
          <a:xfrm>
            <a:off x="5397520" y="1757298"/>
            <a:ext cx="19812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57 Conector recto"/>
          <p:cNvCxnSpPr/>
          <p:nvPr/>
        </p:nvCxnSpPr>
        <p:spPr bwMode="auto">
          <a:xfrm>
            <a:off x="5397520" y="1985898"/>
            <a:ext cx="25146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59 CuadroTexto"/>
          <p:cNvSpPr txBox="1"/>
          <p:nvPr/>
        </p:nvSpPr>
        <p:spPr>
          <a:xfrm>
            <a:off x="3683020" y="3852303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800" b="1" i="0" dirty="0" smtClean="0">
                <a:latin typeface="Nina" pitchFamily="34" charset="0"/>
              </a:rPr>
              <a:t>La suma de los dos  </a:t>
            </a:r>
            <a:r>
              <a:rPr lang="es-ES" b="1" i="0" dirty="0" smtClean="0">
                <a:latin typeface="Nina" pitchFamily="34" charset="0"/>
              </a:rPr>
              <a:t>12</a:t>
            </a:r>
            <a:endParaRPr lang="es-ES" sz="1800" b="1" i="0" dirty="0" smtClean="0">
              <a:latin typeface="Nina" pitchFamily="34" charset="0"/>
            </a:endParaRPr>
          </a:p>
        </p:txBody>
      </p:sp>
      <p:sp>
        <p:nvSpPr>
          <p:cNvPr id="26" name="60 CuadroTexto"/>
          <p:cNvSpPr txBox="1"/>
          <p:nvPr/>
        </p:nvSpPr>
        <p:spPr>
          <a:xfrm>
            <a:off x="1617665" y="4298334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i="0" dirty="0" smtClean="0">
                <a:latin typeface="Nina" pitchFamily="34" charset="0"/>
              </a:rPr>
              <a:t>Tiempo lineal </a:t>
            </a:r>
            <a:r>
              <a:rPr lang="es-ES" sz="1800" b="1" i="0" dirty="0" smtClean="0">
                <a:solidFill>
                  <a:srgbClr val="C00000"/>
                </a:solidFill>
                <a:latin typeface="Nina" pitchFamily="34" charset="0"/>
              </a:rPr>
              <a:t>n/2</a:t>
            </a:r>
            <a:r>
              <a:rPr lang="es-ES" sz="1800" b="1" i="0" dirty="0" smtClean="0">
                <a:latin typeface="Nina" pitchFamily="34" charset="0"/>
              </a:rPr>
              <a:t> un ciclo recorriendo la mitad del array</a:t>
            </a:r>
            <a:endParaRPr lang="es-ES" b="1" i="0" dirty="0" smtClean="0">
              <a:latin typeface="Nina" pitchFamily="34" charset="0"/>
            </a:endParaRPr>
          </a:p>
        </p:txBody>
      </p:sp>
      <p:sp>
        <p:nvSpPr>
          <p:cNvPr id="27" name="61 CuadroTexto"/>
          <p:cNvSpPr txBox="1"/>
          <p:nvPr/>
        </p:nvSpPr>
        <p:spPr>
          <a:xfrm>
            <a:off x="6404030" y="4295431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Nina" pitchFamily="34" charset="0"/>
              </a:rPr>
              <a:t>Tiempo lineal </a:t>
            </a:r>
            <a:r>
              <a:rPr lang="es-ES" b="1" dirty="0">
                <a:solidFill>
                  <a:srgbClr val="C00000"/>
                </a:solidFill>
                <a:latin typeface="Nina" pitchFamily="34" charset="0"/>
              </a:rPr>
              <a:t>n/2</a:t>
            </a:r>
            <a:r>
              <a:rPr lang="es-ES" b="1" dirty="0">
                <a:latin typeface="Nina" pitchFamily="34" charset="0"/>
              </a:rPr>
              <a:t> un ciclo recorriendo la mitad del array</a:t>
            </a:r>
          </a:p>
        </p:txBody>
      </p:sp>
      <p:sp>
        <p:nvSpPr>
          <p:cNvPr id="28" name="62 CuadroTexto"/>
          <p:cNvSpPr txBox="1"/>
          <p:nvPr/>
        </p:nvSpPr>
        <p:spPr>
          <a:xfrm>
            <a:off x="3921250" y="5405460"/>
            <a:ext cx="2971800" cy="461665"/>
          </a:xfrm>
          <a:prstGeom prst="rect">
            <a:avLst/>
          </a:prstGeom>
          <a:gradFill flip="none" rotWithShape="1">
            <a:gsLst>
              <a:gs pos="0">
                <a:srgbClr val="0066FF">
                  <a:shade val="30000"/>
                  <a:satMod val="115000"/>
                </a:srgbClr>
              </a:gs>
              <a:gs pos="50000">
                <a:srgbClr val="0066FF">
                  <a:shade val="67500"/>
                  <a:satMod val="115000"/>
                </a:srgbClr>
              </a:gs>
              <a:gs pos="100000">
                <a:srgbClr val="0066F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bg1"/>
                </a:solidFill>
                <a:latin typeface="Nina" pitchFamily="34" charset="0"/>
              </a:defRPr>
            </a:lvl1pPr>
          </a:lstStyle>
          <a:p>
            <a:r>
              <a:rPr lang="es-ES" sz="2400" dirty="0"/>
              <a:t>tiempo total n (Lineal!)</a:t>
            </a:r>
          </a:p>
        </p:txBody>
      </p:sp>
    </p:spTree>
    <p:extLst>
      <p:ext uri="{BB962C8B-B14F-4D97-AF65-F5344CB8AC3E}">
        <p14:creationId xmlns:p14="http://schemas.microsoft.com/office/powerpoint/2010/main" val="118836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2" grpId="0" animBg="1"/>
      <p:bldP spid="16" grpId="0"/>
      <p:bldP spid="17" grpId="0" animBg="1"/>
      <p:bldP spid="18" grpId="0" animBg="1"/>
      <p:bldP spid="22" grpId="0" animBg="1"/>
      <p:bldP spid="25" grpId="0"/>
      <p:bldP spid="26" grpId="0"/>
      <p:bldP spid="27" grpId="0"/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528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Narrow</vt:lpstr>
      <vt:lpstr>Calibri</vt:lpstr>
      <vt:lpstr>Calibri Light</vt:lpstr>
      <vt:lpstr>Consolas</vt:lpstr>
      <vt:lpstr>Nina</vt:lpstr>
      <vt:lpstr>Office Theme</vt:lpstr>
      <vt:lpstr>PowerPoint Presentation</vt:lpstr>
      <vt:lpstr>PowerPoint Presentation</vt:lpstr>
      <vt:lpstr>Fuerza Bruta</vt:lpstr>
      <vt:lpstr>Cuadratico. Menos bruto</vt:lpstr>
      <vt:lpstr>Recursivo, Divide y Vencerás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mkm</dc:creator>
  <cp:lastModifiedBy>mkm</cp:lastModifiedBy>
  <cp:revision>12</cp:revision>
  <dcterms:created xsi:type="dcterms:W3CDTF">2025-12-07T15:53:57Z</dcterms:created>
  <dcterms:modified xsi:type="dcterms:W3CDTF">2025-12-09T16:43:13Z</dcterms:modified>
</cp:coreProperties>
</file>