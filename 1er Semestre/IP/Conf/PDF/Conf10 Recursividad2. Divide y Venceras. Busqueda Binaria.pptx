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50" r:id="rId4"/>
  </p:sldMasterIdLst>
  <p:notesMasterIdLst>
    <p:notesMasterId r:id="rId8"/>
  </p:notesMasterIdLst>
  <p:sldIdLst>
    <p:sldId id="334" r:id="rId5"/>
    <p:sldId id="359" r:id="rId6"/>
    <p:sldId id="35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rres de Hanoi" id="{C3C34AF8-D7D4-46D9-B78E-DBA0632BBB36}">
          <p14:sldIdLst>
            <p14:sldId id="334"/>
            <p14:sldId id="359"/>
            <p14:sldId id="358"/>
          </p14:sldIdLst>
        </p14:section>
        <p14:section name="Ejercicios" id="{7FBDB652-DB56-4974-B7C2-0E42E24E8AF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5B9BD5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5" autoAdjust="0"/>
    <p:restoredTop sz="87292" autoAdjust="0"/>
  </p:normalViewPr>
  <p:slideViewPr>
    <p:cSldViewPr snapToGrid="0">
      <p:cViewPr varScale="1">
        <p:scale>
          <a:sx n="90" d="100"/>
          <a:sy n="90" d="100"/>
        </p:scale>
        <p:origin x="2394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59B5-99D7-43C5-A810-99ECACD30A87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2DB31-C82B-49A7-8A7E-B252DE8C728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88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3400" y="1122363"/>
            <a:ext cx="6197600" cy="2387600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3400" y="3602038"/>
            <a:ext cx="61976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s-ES"/>
          </a:p>
        </p:txBody>
      </p:sp>
      <p:sp>
        <p:nvSpPr>
          <p:cNvPr id="9" name="Rectangle 8"/>
          <p:cNvSpPr/>
          <p:nvPr userDrawn="1"/>
        </p:nvSpPr>
        <p:spPr>
          <a:xfrm>
            <a:off x="1295401" y="902230"/>
            <a:ext cx="67734" cy="10874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/>
          <p:cNvSpPr/>
          <p:nvPr userDrawn="1"/>
        </p:nvSpPr>
        <p:spPr>
          <a:xfrm>
            <a:off x="1295401" y="1989667"/>
            <a:ext cx="67734" cy="3750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2106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 marL="514350" indent="-171450">
              <a:buFont typeface="Calibri" panose="020F0502020204030204" pitchFamily="34" charset="0"/>
              <a:buChar char="‐"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>
            <a:lvl1pPr algn="l">
              <a:defRPr sz="1100"/>
            </a:lvl1pPr>
          </a:lstStyle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100"/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6359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9116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29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90133"/>
            <a:ext cx="3886200" cy="46868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90133"/>
            <a:ext cx="3886200" cy="46868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144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1493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90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>
            <a:lvl1pPr algn="l">
              <a:defRPr sz="1100"/>
            </a:lvl1pPr>
          </a:lstStyle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48063" y="6492875"/>
            <a:ext cx="2057400" cy="365125"/>
          </a:xfrm>
        </p:spPr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59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>
            <a:lvl1pPr algn="l">
              <a:defRPr sz="1100"/>
            </a:lvl1pPr>
          </a:lstStyle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69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1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14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6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12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34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81667"/>
            <a:ext cx="7886700" cy="4695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548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INTRODUCCIÓN A LA PROGRAMACION EN CD, (C) MK MATCOM UH,  curso 2025-2026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7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latin typeface="Arial Narrow" panose="020B0606020202030204" pitchFamily="34" charset="0"/>
              </a:rPr>
              <a:t>Recursividad</a:t>
            </a:r>
            <a:r>
              <a:rPr lang="en-US" sz="4800" dirty="0" smtClean="0">
                <a:latin typeface="Arial Narrow" panose="020B0606020202030204" pitchFamily="34" charset="0"/>
              </a:rPr>
              <a:t> 2. Divide y </a:t>
            </a:r>
            <a:r>
              <a:rPr lang="en-US" sz="4800" dirty="0" err="1" smtClean="0">
                <a:latin typeface="Arial Narrow" panose="020B0606020202030204" pitchFamily="34" charset="0"/>
              </a:rPr>
              <a:t>Vencerás</a:t>
            </a:r>
            <a:r>
              <a:rPr lang="en-US" sz="4800" dirty="0" smtClean="0">
                <a:latin typeface="Arial Narrow" panose="020B0606020202030204" pitchFamily="34" charset="0"/>
              </a:rPr>
              <a:t>. </a:t>
            </a:r>
            <a:r>
              <a:rPr lang="en-US" sz="4800" dirty="0" err="1" smtClean="0">
                <a:latin typeface="Arial Narrow" panose="020B0606020202030204" pitchFamily="34" charset="0"/>
              </a:rPr>
              <a:t>Búsqueda</a:t>
            </a:r>
            <a:r>
              <a:rPr lang="en-US" sz="4800" dirty="0" smtClean="0">
                <a:latin typeface="Arial Narrow" panose="020B0606020202030204" pitchFamily="34" charset="0"/>
              </a:rPr>
              <a:t> </a:t>
            </a:r>
            <a:r>
              <a:rPr lang="en-US" sz="4800" dirty="0" err="1" smtClean="0">
                <a:latin typeface="Arial Narrow" panose="020B0606020202030204" pitchFamily="34" charset="0"/>
              </a:rPr>
              <a:t>Binaria</a:t>
            </a:r>
            <a:endParaRPr lang="es-ES_tradnl" sz="4800" dirty="0">
              <a:latin typeface="Arial Narrow" panose="020B0606020202030204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2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latin typeface="Arial Narrow" panose="020B0606020202030204" pitchFamily="34" charset="0"/>
              </a:rPr>
              <a:t>Visualice</a:t>
            </a:r>
            <a:r>
              <a:rPr lang="en-US" sz="4800" dirty="0" smtClean="0">
                <a:latin typeface="Arial Narrow" panose="020B0606020202030204" pitchFamily="34" charset="0"/>
              </a:rPr>
              <a:t> la </a:t>
            </a:r>
            <a:r>
              <a:rPr lang="en-US" sz="4800" dirty="0" err="1" smtClean="0">
                <a:latin typeface="Arial Narrow" panose="020B0606020202030204" pitchFamily="34" charset="0"/>
              </a:rPr>
              <a:t>diapo</a:t>
            </a:r>
            <a:r>
              <a:rPr lang="en-US" sz="4800" dirty="0" smtClean="0">
                <a:latin typeface="Arial Narrow" panose="020B0606020202030204" pitchFamily="34" charset="0"/>
              </a:rPr>
              <a:t> </a:t>
            </a:r>
            <a:r>
              <a:rPr lang="en-US" sz="4800" dirty="0" err="1" smtClean="0">
                <a:latin typeface="Arial Narrow" panose="020B0606020202030204" pitchFamily="34" charset="0"/>
              </a:rPr>
              <a:t>siguiente</a:t>
            </a:r>
            <a:r>
              <a:rPr lang="en-US" sz="4800" dirty="0" smtClean="0">
                <a:latin typeface="Arial Narrow" panose="020B0606020202030204" pitchFamily="34" charset="0"/>
              </a:rPr>
              <a:t> </a:t>
            </a:r>
            <a:r>
              <a:rPr lang="en-US" sz="4800" dirty="0" err="1" smtClean="0">
                <a:latin typeface="Arial Narrow" panose="020B0606020202030204" pitchFamily="34" charset="0"/>
              </a:rPr>
              <a:t>paso</a:t>
            </a:r>
            <a:r>
              <a:rPr lang="en-US" sz="4800" dirty="0" smtClean="0">
                <a:latin typeface="Arial Narrow" panose="020B0606020202030204" pitchFamily="34" charset="0"/>
              </a:rPr>
              <a:t> a </a:t>
            </a:r>
            <a:r>
              <a:rPr lang="en-US" sz="4800" dirty="0" err="1" smtClean="0">
                <a:latin typeface="Arial Narrow" panose="020B0606020202030204" pitchFamily="34" charset="0"/>
              </a:rPr>
              <a:t>paso</a:t>
            </a:r>
            <a:r>
              <a:rPr lang="en-US" sz="4800" dirty="0" smtClean="0">
                <a:latin typeface="Arial Narrow" panose="020B0606020202030204" pitchFamily="34" charset="0"/>
              </a:rPr>
              <a:t> con </a:t>
            </a:r>
            <a:r>
              <a:rPr lang="en-US" sz="4800" dirty="0" err="1" smtClean="0">
                <a:latin typeface="Arial Narrow" panose="020B0606020202030204" pitchFamily="34" charset="0"/>
              </a:rPr>
              <a:t>animación</a:t>
            </a:r>
            <a:endParaRPr lang="es-ES_tradnl" sz="4800" dirty="0">
              <a:latin typeface="Arial Narrow" panose="020B0606020202030204" pitchFamily="3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INTRODUCCIÓN A LA PROGRAMACION EN CD, (C) MK MATCOM UH,  curso 2025-2026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80206" cy="472273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latin typeface="Arial Narrow" panose="020B0606020202030204" pitchFamily="34" charset="0"/>
              </a:rPr>
              <a:t>Búsqueda</a:t>
            </a:r>
            <a:r>
              <a:rPr lang="en-US" sz="2800" dirty="0" smtClean="0">
                <a:latin typeface="Arial Narrow" panose="020B0606020202030204" pitchFamily="34" charset="0"/>
              </a:rPr>
              <a:t> </a:t>
            </a:r>
            <a:r>
              <a:rPr lang="en-US" sz="2800" dirty="0" err="1" smtClean="0">
                <a:latin typeface="Arial Narrow" panose="020B0606020202030204" pitchFamily="34" charset="0"/>
              </a:rPr>
              <a:t>Binaria</a:t>
            </a:r>
            <a:r>
              <a:rPr lang="en-US" sz="2800" dirty="0" smtClean="0">
                <a:latin typeface="Arial Narrow" panose="020B0606020202030204" pitchFamily="34" charset="0"/>
              </a:rPr>
              <a:t>.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Buscar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un valor </a:t>
            </a:r>
            <a:r>
              <a:rPr lang="en-US" sz="24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43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en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una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lista</a:t>
            </a:r>
            <a:r>
              <a:rPr lang="en-US" sz="24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ordenada</a:t>
            </a:r>
            <a:endParaRPr lang="es-MX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8968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5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6723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10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54478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15	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2233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20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9988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25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07743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30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5498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35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43253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40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61008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45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8763" y="580102"/>
            <a:ext cx="7177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</a:t>
            </a:r>
            <a:r>
              <a:rPr lang="en-US" dirty="0" smtClean="0">
                <a:latin typeface="Consolas" panose="020B0609020204030204" pitchFamily="49" charset="0"/>
              </a:rPr>
              <a:t>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18968" y="886686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0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36723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1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54478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2	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72233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3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9988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4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07743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5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5498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6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3253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7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61008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8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78763" y="892262"/>
            <a:ext cx="717755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9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660" y="586142"/>
            <a:ext cx="7472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 panose="020B0609020204030204" pitchFamily="49" charset="0"/>
              </a:rPr>
              <a:t>izq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4683" y="595491"/>
            <a:ext cx="717755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0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5535" y="943374"/>
            <a:ext cx="7472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 panose="020B0609020204030204" pitchFamily="49" charset="0"/>
              </a:rPr>
              <a:t>der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4682" y="952723"/>
            <a:ext cx="717755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9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6768" y="1309955"/>
            <a:ext cx="74725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 panose="020B0609020204030204" pitchFamily="49" charset="0"/>
              </a:rPr>
              <a:t>medio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0992" y="1319304"/>
            <a:ext cx="717755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nsolas" panose="020B0609020204030204" pitchFamily="49" charset="0"/>
              </a:rPr>
              <a:t>4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40825" y="595491"/>
            <a:ext cx="845575" cy="412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818968" y="1309955"/>
            <a:ext cx="717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43 </a:t>
            </a:r>
            <a:r>
              <a:rPr lang="en-US" sz="2000" dirty="0" err="1" smtClean="0"/>
              <a:t>es</a:t>
            </a:r>
            <a:r>
              <a:rPr lang="en-US" sz="2000" dirty="0" smtClean="0"/>
              <a:t> mayor que el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2000" dirty="0" smtClean="0"/>
              <a:t> del </a:t>
            </a:r>
            <a:r>
              <a:rPr lang="en-US" sz="2000" dirty="0" err="1" smtClean="0"/>
              <a:t>medio</a:t>
            </a:r>
            <a:r>
              <a:rPr lang="en-US" sz="2000" dirty="0" smtClean="0"/>
              <a:t>. </a:t>
            </a:r>
            <a:r>
              <a:rPr lang="en-US" sz="2000" dirty="0" err="1" smtClean="0"/>
              <a:t>Buscar</a:t>
            </a:r>
            <a:r>
              <a:rPr lang="en-US" sz="2000" dirty="0" smtClean="0"/>
              <a:t> </a:t>
            </a:r>
            <a:r>
              <a:rPr lang="en-US" sz="2000" dirty="0" err="1" smtClean="0"/>
              <a:t>en</a:t>
            </a:r>
            <a:r>
              <a:rPr lang="en-US" sz="2000" dirty="0" smtClean="0"/>
              <a:t> la parte </a:t>
            </a:r>
            <a:r>
              <a:rPr lang="en-US" sz="2000" dirty="0" err="1" smtClean="0"/>
              <a:t>derecha</a:t>
            </a:r>
            <a:endParaRPr lang="en-US" sz="2000" dirty="0"/>
          </a:p>
        </p:txBody>
      </p:sp>
      <p:grpSp>
        <p:nvGrpSpPr>
          <p:cNvPr id="66" name="Group 65"/>
          <p:cNvGrpSpPr/>
          <p:nvPr/>
        </p:nvGrpSpPr>
        <p:grpSpPr>
          <a:xfrm>
            <a:off x="115535" y="1796465"/>
            <a:ext cx="8917858" cy="1077756"/>
            <a:chOff x="115535" y="1796465"/>
            <a:chExt cx="8917858" cy="1077756"/>
          </a:xfrm>
        </p:grpSpPr>
        <p:sp>
          <p:nvSpPr>
            <p:cNvPr id="37" name="TextBox 36"/>
            <p:cNvSpPr txBox="1"/>
            <p:nvPr/>
          </p:nvSpPr>
          <p:spPr>
            <a:xfrm>
              <a:off x="185584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7359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9135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15	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0910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686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4461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6237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8012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59788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1563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5</a:t>
              </a:r>
              <a:r>
                <a:rPr lang="en-US" dirty="0" smtClean="0">
                  <a:latin typeface="Consolas" panose="020B0609020204030204" pitchFamily="49" charset="0"/>
                </a:rPr>
                <a:t>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855843" y="2103049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0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7359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1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9135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2	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00910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3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2686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4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44461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16237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6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789185" y="2099206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7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9788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8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31563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5535" y="1802505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izq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41558" y="1811854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52410" y="2159737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</a:rPr>
                <a:t>der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41557" y="2169086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3643" y="2526318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medio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57867" y="2535667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7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6823609" y="1782963"/>
            <a:ext cx="845575" cy="412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1897625" y="2559284"/>
            <a:ext cx="717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43 </a:t>
            </a:r>
            <a:r>
              <a:rPr lang="en-US" sz="2000" dirty="0" err="1" smtClean="0"/>
              <a:t>es</a:t>
            </a:r>
            <a:r>
              <a:rPr lang="en-US" sz="2000" dirty="0" smtClean="0"/>
              <a:t> mayor que el 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2000" dirty="0" smtClean="0"/>
              <a:t> del </a:t>
            </a:r>
            <a:r>
              <a:rPr lang="en-US" sz="2000" dirty="0" err="1" smtClean="0"/>
              <a:t>medio</a:t>
            </a:r>
            <a:r>
              <a:rPr lang="en-US" sz="2000" dirty="0" smtClean="0"/>
              <a:t>. </a:t>
            </a:r>
            <a:r>
              <a:rPr lang="en-US" sz="2000" dirty="0" err="1" smtClean="0"/>
              <a:t>Buscar</a:t>
            </a:r>
            <a:r>
              <a:rPr lang="en-US" sz="2000" dirty="0" smtClean="0"/>
              <a:t> </a:t>
            </a:r>
            <a:r>
              <a:rPr lang="en-US" sz="2000" dirty="0" err="1" smtClean="0"/>
              <a:t>en</a:t>
            </a:r>
            <a:r>
              <a:rPr lang="en-US" sz="2000" dirty="0" smtClean="0"/>
              <a:t> la parte </a:t>
            </a:r>
            <a:r>
              <a:rPr lang="en-US" sz="2000" dirty="0" err="1" smtClean="0"/>
              <a:t>derecha</a:t>
            </a:r>
            <a:endParaRPr lang="en-US" sz="2000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5515898" y="1281928"/>
            <a:ext cx="33724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7669184" y="2437760"/>
            <a:ext cx="14059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>
            <a:off x="115535" y="3077408"/>
            <a:ext cx="8917858" cy="1077756"/>
            <a:chOff x="115535" y="1796465"/>
            <a:chExt cx="8917858" cy="1077756"/>
          </a:xfrm>
        </p:grpSpPr>
        <p:sp>
          <p:nvSpPr>
            <p:cNvPr id="70" name="TextBox 69"/>
            <p:cNvSpPr txBox="1"/>
            <p:nvPr/>
          </p:nvSpPr>
          <p:spPr>
            <a:xfrm>
              <a:off x="185584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57359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29135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15	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00910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72686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44461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16237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88012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59788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31563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5</a:t>
              </a:r>
              <a:r>
                <a:rPr lang="en-US" dirty="0" smtClean="0">
                  <a:latin typeface="Consolas" panose="020B0609020204030204" pitchFamily="49" charset="0"/>
                </a:rPr>
                <a:t>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855843" y="2103049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0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7359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1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9135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2	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00910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3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2686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4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44461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16237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6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789185" y="2099206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7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59788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8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1563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5535" y="1802505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izq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41558" y="1811854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8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52410" y="2159737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</a:rPr>
                <a:t>der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41557" y="2169086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53643" y="2526318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medio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57867" y="2535667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8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7531531" y="3065077"/>
            <a:ext cx="845575" cy="412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897625" y="3840227"/>
            <a:ext cx="717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43 </a:t>
            </a:r>
            <a:r>
              <a:rPr lang="en-US" sz="2000" dirty="0" err="1" smtClean="0"/>
              <a:t>es</a:t>
            </a:r>
            <a:r>
              <a:rPr lang="en-US" sz="2000" dirty="0" smtClean="0"/>
              <a:t> </a:t>
            </a:r>
            <a:r>
              <a:rPr lang="en-US" sz="2000" dirty="0" err="1" smtClean="0"/>
              <a:t>menor</a:t>
            </a:r>
            <a:r>
              <a:rPr lang="en-US" sz="2000" dirty="0" smtClean="0"/>
              <a:t> que el 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sz="2000" dirty="0" smtClean="0"/>
              <a:t> del </a:t>
            </a:r>
            <a:r>
              <a:rPr lang="en-US" sz="2000" dirty="0" err="1" smtClean="0"/>
              <a:t>medio</a:t>
            </a:r>
            <a:r>
              <a:rPr lang="en-US" sz="2000" dirty="0" smtClean="0"/>
              <a:t>. </a:t>
            </a:r>
            <a:endParaRPr lang="en-US" sz="20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181896" y="4361704"/>
            <a:ext cx="8917858" cy="1077756"/>
            <a:chOff x="115535" y="1796465"/>
            <a:chExt cx="8917858" cy="1077756"/>
          </a:xfrm>
        </p:grpSpPr>
        <p:sp>
          <p:nvSpPr>
            <p:cNvPr id="100" name="TextBox 99"/>
            <p:cNvSpPr txBox="1"/>
            <p:nvPr/>
          </p:nvSpPr>
          <p:spPr>
            <a:xfrm>
              <a:off x="185584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57359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29135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15	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00910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72686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25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44461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16237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35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88012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597883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onsolas" panose="020B0609020204030204" pitchFamily="49" charset="0"/>
                </a:rPr>
                <a:t>45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315638" y="1796465"/>
              <a:ext cx="717755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5</a:t>
              </a:r>
              <a:r>
                <a:rPr lang="en-US" dirty="0" smtClean="0">
                  <a:latin typeface="Consolas" panose="020B0609020204030204" pitchFamily="49" charset="0"/>
                </a:rPr>
                <a:t>0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855843" y="2103049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0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57359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1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29135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2	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00910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3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72686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4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44461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5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16237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6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789185" y="2099206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7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7597883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8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8315638" y="2108625"/>
              <a:ext cx="717755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9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5535" y="1802505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izq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41558" y="1811854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</a:rPr>
                <a:t>8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52410" y="2159737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Consolas" panose="020B0609020204030204" pitchFamily="49" charset="0"/>
                </a:rPr>
                <a:t>der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41557" y="2169086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Consolas" panose="020B0609020204030204" pitchFamily="49" charset="0"/>
                </a:rPr>
                <a:t>7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53643" y="2526318"/>
              <a:ext cx="747250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latin typeface="Consolas" panose="020B0609020204030204" pitchFamily="49" charset="0"/>
                </a:rPr>
                <a:t>medio</a:t>
              </a:r>
              <a:endParaRPr 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57867" y="2535667"/>
              <a:ext cx="71775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6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26" name="Rectangle 125"/>
          <p:cNvSpPr/>
          <p:nvPr/>
        </p:nvSpPr>
        <p:spPr>
          <a:xfrm>
            <a:off x="7597892" y="4349373"/>
            <a:ext cx="845575" cy="412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/>
          <p:cNvSpPr txBox="1"/>
          <p:nvPr/>
        </p:nvSpPr>
        <p:spPr>
          <a:xfrm>
            <a:off x="1963986" y="5124523"/>
            <a:ext cx="717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8 </a:t>
            </a:r>
            <a:r>
              <a:rPr lang="en-US" sz="2000" dirty="0" err="1" smtClean="0"/>
              <a:t>es</a:t>
            </a:r>
            <a:r>
              <a:rPr lang="en-US" sz="2000" dirty="0" smtClean="0"/>
              <a:t> </a:t>
            </a:r>
            <a:r>
              <a:rPr lang="en-US" sz="2000" dirty="0" err="1" smtClean="0"/>
              <a:t>menor</a:t>
            </a:r>
            <a:r>
              <a:rPr lang="en-US" sz="2000" dirty="0" smtClean="0"/>
              <a:t> que el 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 smtClean="0"/>
              <a:t> . No hay parte </a:t>
            </a:r>
            <a:r>
              <a:rPr lang="en-US" sz="2000" dirty="0" err="1" smtClean="0"/>
              <a:t>izquierda</a:t>
            </a:r>
            <a:r>
              <a:rPr lang="en-US" sz="2000" dirty="0" smtClean="0"/>
              <a:t> para </a:t>
            </a:r>
            <a:r>
              <a:rPr lang="en-US" sz="2000" dirty="0" err="1" smtClean="0"/>
              <a:t>seguir</a:t>
            </a:r>
            <a:r>
              <a:rPr lang="en-US" sz="2000" dirty="0" smtClean="0"/>
              <a:t> </a:t>
            </a:r>
            <a:r>
              <a:rPr lang="en-US" sz="2000" dirty="0" err="1" smtClean="0"/>
              <a:t>buscando</a:t>
            </a:r>
            <a:r>
              <a:rPr lang="en-US" sz="2000" dirty="0" smtClean="0"/>
              <a:t>. </a:t>
            </a:r>
            <a:endParaRPr lang="en-US" sz="2000" dirty="0"/>
          </a:p>
        </p:txBody>
      </p:sp>
      <p:sp>
        <p:nvSpPr>
          <p:cNvPr id="128" name="TextBox 127"/>
          <p:cNvSpPr txBox="1"/>
          <p:nvPr/>
        </p:nvSpPr>
        <p:spPr>
          <a:xfrm>
            <a:off x="899660" y="5754041"/>
            <a:ext cx="7177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43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/>
              <a:t>no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 smtClean="0"/>
              <a:t>lista</a:t>
            </a:r>
            <a:r>
              <a:rPr lang="en-US" sz="2000" dirty="0" smtClean="0"/>
              <a:t>. Para la </a:t>
            </a:r>
            <a:r>
              <a:rPr lang="en-US" sz="2000" dirty="0" err="1" smtClean="0"/>
              <a:t>lista</a:t>
            </a:r>
            <a:r>
              <a:rPr lang="en-US" sz="2000" dirty="0" smtClean="0"/>
              <a:t> que tenia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 smtClean="0"/>
              <a:t> </a:t>
            </a:r>
            <a:r>
              <a:rPr lang="en-US" sz="2000" dirty="0" err="1" smtClean="0"/>
              <a:t>elementos</a:t>
            </a:r>
            <a:r>
              <a:rPr lang="en-US" sz="2000" dirty="0" smtClean="0"/>
              <a:t>  </a:t>
            </a:r>
            <a:r>
              <a:rPr lang="en-US" sz="2000" dirty="0" err="1" smtClean="0"/>
              <a:t>hemos</a:t>
            </a:r>
            <a:r>
              <a:rPr lang="en-US" sz="2000" dirty="0" smtClean="0"/>
              <a:t> </a:t>
            </a:r>
            <a:r>
              <a:rPr lang="en-US" sz="2000" dirty="0" err="1" smtClean="0"/>
              <a:t>intentado</a:t>
            </a:r>
            <a:r>
              <a:rPr lang="en-US" sz="2000" dirty="0" smtClean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 smtClean="0"/>
              <a:t> </a:t>
            </a:r>
            <a:r>
              <a:rPr lang="en-US" sz="2000" dirty="0" err="1" smtClean="0"/>
              <a:t>preguntas</a:t>
            </a:r>
            <a:r>
              <a:rPr lang="en-US" sz="2000" dirty="0" smtClean="0"/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log2(10) ≈ 3</a:t>
            </a:r>
          </a:p>
        </p:txBody>
      </p:sp>
    </p:spTree>
    <p:extLst>
      <p:ext uri="{BB962C8B-B14F-4D97-AF65-F5344CB8AC3E}">
        <p14:creationId xmlns:p14="http://schemas.microsoft.com/office/powerpoint/2010/main" val="25450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63" grpId="0" animBg="1"/>
      <p:bldP spid="64" grpId="0"/>
      <p:bldP spid="96" grpId="0" animBg="1"/>
      <p:bldP spid="97" grpId="0"/>
      <p:bldP spid="126" grpId="0" animBg="1"/>
      <p:bldP spid="127" grpId="0"/>
      <p:bldP spid="1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tepec.potx" id="{96DC0AF7-BA51-46DB-ADA8-3C58F2DCDC96}" vid="{52FADB8B-1543-471D-A3AF-DC28E0F42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34bdd7-a026-4b3d-8933-0c59e32f4ea4"/>
    <TaxKeywordTaxHTField xmlns="c434bdd7-a026-4b3d-8933-0c59e32f4ea4">
      <Terms xmlns="http://schemas.microsoft.com/office/infopath/2007/PartnerControls"/>
    </TaxKeyword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46D990F7502C4E80B493EDE9C01790" ma:contentTypeVersion="3" ma:contentTypeDescription="Crear nuevo documento." ma:contentTypeScope="" ma:versionID="01f8a35712c38e5057217afb0ad72c71">
  <xsd:schema xmlns:xsd="http://www.w3.org/2001/XMLSchema" xmlns:xs="http://www.w3.org/2001/XMLSchema" xmlns:p="http://schemas.microsoft.com/office/2006/metadata/properties" xmlns:ns2="c434bdd7-a026-4b3d-8933-0c59e32f4ea4" targetNamespace="http://schemas.microsoft.com/office/2006/metadata/properties" ma:root="true" ma:fieldsID="ac580ed5a8ca3e30d0fe7578ab9f4226" ns2:_="">
    <xsd:import namespace="c434bdd7-a026-4b3d-8933-0c59e32f4ea4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4bdd7-a026-4b3d-8933-0c59e32f4ea4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9" nillable="true" ma:taxonomy="true" ma:internalName="TaxKeywordTaxHTField" ma:taxonomyFieldName="TaxKeyword" ma:displayName="Palabras clave de empresa" ma:fieldId="{23f27201-bee3-471e-b2e7-b64fd8b7ca38}" ma:taxonomyMulti="true" ma:sspId="2d99362a-dc6b-4a7e-b480-32ae0680154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a66afcf3-fefa-4f8d-af1e-e7b5c1bb80bb}" ma:internalName="TaxCatchAll" ma:showField="CatchAllData" ma:web="712059bd-bde3-4802-8202-127e8b2ef4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F379C8-C3FB-4054-AFCC-E012CEFC30E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c434bdd7-a026-4b3d-8933-0c59e32f4ea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7159EDD-297F-403C-8F43-E8097EF3B6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34bdd7-a026-4b3d-8933-0c59e32f4e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A66D20-76A2-4F21-8FB2-93040EB81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Ometepec</Template>
  <TotalTime>6879</TotalTime>
  <Words>223</Words>
  <Application>Microsoft Office PowerPoint</Application>
  <PresentationFormat>On-screen Show (4:3)</PresentationFormat>
  <Paragraphs>113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Consolas</vt:lpstr>
      <vt:lpstr>Office Theme</vt:lpstr>
      <vt:lpstr>Recursividad 2. Divide y Vencerás. Búsqueda Binaria</vt:lpstr>
      <vt:lpstr>Visualice la diapo siguiente paso a paso con animación</vt:lpstr>
      <vt:lpstr>Búsqueda Binaria. Buscar un valor 43 en una lista ordenada</vt:lpstr>
    </vt:vector>
  </TitlesOfParts>
  <Company>Private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Recursividad</dc:title>
  <dc:creator>weboo</dc:creator>
  <cp:lastModifiedBy>mkm</cp:lastModifiedBy>
  <cp:revision>278</cp:revision>
  <dcterms:created xsi:type="dcterms:W3CDTF">2013-01-20T20:53:15Z</dcterms:created>
  <dcterms:modified xsi:type="dcterms:W3CDTF">2025-11-18T20:55:25Z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0x010100C646D990F7502C4E80B493EDE9C01790</vt:lpwstr>
  </property>
</Properties>
</file>